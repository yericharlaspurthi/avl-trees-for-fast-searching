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x="18288000" cy="10287000"/>
  <p:notesSz cx="6858000" cy="9144000"/>
  <p:embeddedFontLst>
    <p:embeddedFont>
      <p:font typeface="TT Lakes Neue Extended Bold" charset="1" panose="02010001040000080307"/>
      <p:regular r:id="rId22"/>
    </p:embeddedFont>
    <p:embeddedFont>
      <p:font typeface="TT Lakes Neue Extended" charset="1" panose="02010001040000080307"/>
      <p:regular r:id="rId23"/>
    </p:embeddedFont>
    <p:embeddedFont>
      <p:font typeface="Arian Bold" charset="1" panose="020B0805020202050204"/>
      <p:regular r:id="rId24"/>
    </p:embeddedFont>
    <p:embeddedFont>
      <p:font typeface="Arian" charset="1" panose="020B0505020202050204"/>
      <p:regular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6.png" Type="http://schemas.openxmlformats.org/officeDocument/2006/relationships/image"/><Relationship Id="rId7" Target="../media/image7.svg" Type="http://schemas.openxmlformats.org/officeDocument/2006/relationships/image"/><Relationship Id="rId8"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14.png" Type="http://schemas.openxmlformats.org/officeDocument/2006/relationships/image"/><Relationship Id="rId5" Target="../media/image15.svg" Type="http://schemas.openxmlformats.org/officeDocument/2006/relationships/image"/><Relationship Id="rId6" Target="../media/image2.png" Type="http://schemas.openxmlformats.org/officeDocument/2006/relationships/image"/><Relationship Id="rId7" Target="../media/image3.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12" Target="../media/image20.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jpe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4.png" Type="http://schemas.openxmlformats.org/officeDocument/2006/relationships/image"/><Relationship Id="rId7" Target="../media/image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9.png" Type="http://schemas.openxmlformats.org/officeDocument/2006/relationships/image"/><Relationship Id="rId7" Target="../media/image10.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2" Target="../media/image12.png" Type="http://schemas.openxmlformats.org/officeDocument/2006/relationships/image"/><Relationship Id="rId3" Target="../media/image13.sv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 Id="rId8" Target="../media/image6.png" Type="http://schemas.openxmlformats.org/officeDocument/2006/relationships/image"/><Relationship Id="rId9"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8.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9.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AutoShape 2" id="2"/>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Freeform 3" id="3"/>
          <p:cNvSpPr/>
          <p:nvPr/>
        </p:nvSpPr>
        <p:spPr>
          <a:xfrm flipH="false" flipV="false" rot="0">
            <a:off x="505953" y="1503636"/>
            <a:ext cx="17351898" cy="6394808"/>
          </a:xfrm>
          <a:custGeom>
            <a:avLst/>
            <a:gdLst/>
            <a:ahLst/>
            <a:cxnLst/>
            <a:rect r="r" b="b" t="t" l="l"/>
            <a:pathLst>
              <a:path h="6394808" w="17351898">
                <a:moveTo>
                  <a:pt x="0" y="0"/>
                </a:moveTo>
                <a:lnTo>
                  <a:pt x="17351898" y="0"/>
                </a:lnTo>
                <a:lnTo>
                  <a:pt x="17351898" y="6394808"/>
                </a:lnTo>
                <a:lnTo>
                  <a:pt x="0" y="6394808"/>
                </a:lnTo>
                <a:lnTo>
                  <a:pt x="0" y="0"/>
                </a:lnTo>
                <a:close/>
              </a:path>
            </a:pathLst>
          </a:custGeom>
          <a:blipFill>
            <a:blip r:embed="rId2"/>
            <a:stretch>
              <a:fillRect l="0" t="-21848" r="0" b="-29722"/>
            </a:stretch>
          </a:blipFill>
        </p:spPr>
      </p:sp>
      <p:sp>
        <p:nvSpPr>
          <p:cNvPr name="TextBox 4" id="4"/>
          <p:cNvSpPr txBox="true"/>
          <p:nvPr/>
        </p:nvSpPr>
        <p:spPr>
          <a:xfrm rot="0">
            <a:off x="5914145" y="2893231"/>
            <a:ext cx="7450038" cy="1410472"/>
          </a:xfrm>
          <a:prstGeom prst="rect">
            <a:avLst/>
          </a:prstGeom>
        </p:spPr>
        <p:txBody>
          <a:bodyPr anchor="t" rtlCol="false" tIns="0" lIns="0" bIns="0" rIns="0">
            <a:spAutoFit/>
          </a:bodyPr>
          <a:lstStyle/>
          <a:p>
            <a:pPr algn="l">
              <a:lnSpc>
                <a:spcPts val="11507"/>
              </a:lnSpc>
            </a:pPr>
            <a:r>
              <a:rPr lang="en-US" sz="8219" spc="345" b="true">
                <a:solidFill>
                  <a:srgbClr val="FFFFFF"/>
                </a:solidFill>
                <a:latin typeface="TT Lakes Neue Extended Bold"/>
                <a:ea typeface="TT Lakes Neue Extended Bold"/>
                <a:cs typeface="TT Lakes Neue Extended Bold"/>
                <a:sym typeface="TT Lakes Neue Extended Bold"/>
              </a:rPr>
              <a:t>AVL Trees</a:t>
            </a:r>
          </a:p>
        </p:txBody>
      </p:sp>
      <p:sp>
        <p:nvSpPr>
          <p:cNvPr name="TextBox 5" id="5"/>
          <p:cNvSpPr txBox="true"/>
          <p:nvPr/>
        </p:nvSpPr>
        <p:spPr>
          <a:xfrm rot="0">
            <a:off x="4686290" y="4778936"/>
            <a:ext cx="9905747" cy="1077595"/>
          </a:xfrm>
          <a:prstGeom prst="rect">
            <a:avLst/>
          </a:prstGeom>
        </p:spPr>
        <p:txBody>
          <a:bodyPr anchor="t" rtlCol="false" tIns="0" lIns="0" bIns="0" rIns="0">
            <a:spAutoFit/>
          </a:bodyPr>
          <a:lstStyle/>
          <a:p>
            <a:pPr algn="l">
              <a:lnSpc>
                <a:spcPts val="8854"/>
              </a:lnSpc>
            </a:pPr>
            <a:r>
              <a:rPr lang="en-US" sz="6324" spc="265">
                <a:solidFill>
                  <a:srgbClr val="FFFFFF"/>
                </a:solidFill>
                <a:latin typeface="TT Lakes Neue Extended"/>
                <a:ea typeface="TT Lakes Neue Extended"/>
                <a:cs typeface="TT Lakes Neue Extended"/>
                <a:sym typeface="TT Lakes Neue Extended"/>
              </a:rPr>
              <a:t>for Fast Searching</a:t>
            </a:r>
          </a:p>
        </p:txBody>
      </p:sp>
      <p:sp>
        <p:nvSpPr>
          <p:cNvPr name="TextBox 6" id="6"/>
          <p:cNvSpPr txBox="true"/>
          <p:nvPr/>
        </p:nvSpPr>
        <p:spPr>
          <a:xfrm rot="0">
            <a:off x="1028700" y="404057"/>
            <a:ext cx="2141695" cy="739775"/>
          </a:xfrm>
          <a:prstGeom prst="rect">
            <a:avLst/>
          </a:prstGeom>
        </p:spPr>
        <p:txBody>
          <a:bodyPr anchor="t" rtlCol="false" tIns="0" lIns="0" bIns="0" rIns="0">
            <a:spAutoFit/>
          </a:bodyPr>
          <a:lstStyle/>
          <a:p>
            <a:pPr algn="l">
              <a:lnSpc>
                <a:spcPts val="2800"/>
              </a:lnSpc>
            </a:pPr>
            <a:r>
              <a:rPr lang="en-US" sz="2000" b="true">
                <a:solidFill>
                  <a:srgbClr val="FFFFFF"/>
                </a:solidFill>
                <a:latin typeface="Arian Bold"/>
                <a:ea typeface="Arian Bold"/>
                <a:cs typeface="Arian Bold"/>
                <a:sym typeface="Arian Bold"/>
              </a:rPr>
              <a:t>CAPSTONE PROJECT</a:t>
            </a:r>
          </a:p>
        </p:txBody>
      </p:sp>
      <p:sp>
        <p:nvSpPr>
          <p:cNvPr name="TextBox 7" id="7"/>
          <p:cNvSpPr txBox="true"/>
          <p:nvPr/>
        </p:nvSpPr>
        <p:spPr>
          <a:xfrm rot="0">
            <a:off x="12801434" y="8127038"/>
            <a:ext cx="4799198" cy="1926188"/>
          </a:xfrm>
          <a:prstGeom prst="rect">
            <a:avLst/>
          </a:prstGeom>
        </p:spPr>
        <p:txBody>
          <a:bodyPr anchor="t" rtlCol="false" tIns="0" lIns="0" bIns="0" rIns="0">
            <a:spAutoFit/>
          </a:bodyPr>
          <a:lstStyle/>
          <a:p>
            <a:pPr algn="ctr">
              <a:lnSpc>
                <a:spcPts val="3032"/>
              </a:lnSpc>
              <a:spcBef>
                <a:spcPct val="0"/>
              </a:spcBef>
            </a:pPr>
            <a:r>
              <a:rPr lang="en-US" b="true" sz="2165">
                <a:solidFill>
                  <a:srgbClr val="FFFFFF"/>
                </a:solidFill>
                <a:latin typeface="Arian Bold"/>
                <a:ea typeface="Arian Bold"/>
                <a:cs typeface="Arian Bold"/>
                <a:sym typeface="Arian Bold"/>
              </a:rPr>
              <a:t>Presented by</a:t>
            </a:r>
          </a:p>
          <a:p>
            <a:pPr algn="ctr">
              <a:lnSpc>
                <a:spcPts val="3032"/>
              </a:lnSpc>
              <a:spcBef>
                <a:spcPct val="0"/>
              </a:spcBef>
            </a:pPr>
            <a:r>
              <a:rPr lang="en-US" b="true" sz="2165">
                <a:solidFill>
                  <a:srgbClr val="FFFFFF"/>
                </a:solidFill>
                <a:latin typeface="Arian Bold"/>
                <a:ea typeface="Arian Bold"/>
                <a:cs typeface="Arian Bold"/>
                <a:sym typeface="Arian Bold"/>
              </a:rPr>
              <a:t>Yericharla Spurthi</a:t>
            </a:r>
          </a:p>
          <a:p>
            <a:pPr algn="ctr">
              <a:lnSpc>
                <a:spcPts val="3032"/>
              </a:lnSpc>
              <a:spcBef>
                <a:spcPct val="0"/>
              </a:spcBef>
            </a:pPr>
            <a:r>
              <a:rPr lang="en-US" b="true" sz="2165">
                <a:solidFill>
                  <a:srgbClr val="FFFFFF"/>
                </a:solidFill>
                <a:latin typeface="Arian Bold"/>
                <a:ea typeface="Arian Bold"/>
                <a:cs typeface="Arian Bold"/>
                <a:sym typeface="Arian Bold"/>
              </a:rPr>
              <a:t>Roll.No:CH.EN.U4CCE25037</a:t>
            </a:r>
          </a:p>
          <a:p>
            <a:pPr algn="ctr">
              <a:lnSpc>
                <a:spcPts val="3032"/>
              </a:lnSpc>
              <a:spcBef>
                <a:spcPct val="0"/>
              </a:spcBef>
            </a:pPr>
            <a:r>
              <a:rPr lang="en-US" b="true" sz="2165">
                <a:solidFill>
                  <a:srgbClr val="FFFFFF"/>
                </a:solidFill>
                <a:latin typeface="Arian Bold"/>
                <a:ea typeface="Arian Bold"/>
                <a:cs typeface="Arian Bold"/>
                <a:sym typeface="Arian Bold"/>
              </a:rPr>
              <a:t>B.Tech CCE – 2nd Year</a:t>
            </a:r>
          </a:p>
          <a:p>
            <a:pPr algn="ctr">
              <a:lnSpc>
                <a:spcPts val="3032"/>
              </a:lnSpc>
              <a:spcBef>
                <a:spcPct val="0"/>
              </a:spcBef>
            </a:pPr>
            <a:r>
              <a:rPr lang="en-US" b="true" sz="2165">
                <a:solidFill>
                  <a:srgbClr val="FFFFFF"/>
                </a:solidFill>
                <a:latin typeface="Arian Bold"/>
                <a:ea typeface="Arian Bold"/>
                <a:cs typeface="Arian Bold"/>
                <a:sym typeface="Arian Bold"/>
              </a:rPr>
              <a:t>Amrita Vishwa Vidyapeetham</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2358962" y="-172131"/>
            <a:ext cx="11724278" cy="11724278"/>
          </a:xfrm>
          <a:custGeom>
            <a:avLst/>
            <a:gdLst/>
            <a:ahLst/>
            <a:cxnLst/>
            <a:rect r="r" b="b" t="t" l="l"/>
            <a:pathLst>
              <a:path h="11724278" w="11724278">
                <a:moveTo>
                  <a:pt x="0" y="0"/>
                </a:moveTo>
                <a:lnTo>
                  <a:pt x="11724278" y="0"/>
                </a:lnTo>
                <a:lnTo>
                  <a:pt x="11724278" y="11724278"/>
                </a:lnTo>
                <a:lnTo>
                  <a:pt x="0" y="11724278"/>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83495" y="7832730"/>
            <a:ext cx="6009009" cy="6009009"/>
          </a:xfrm>
          <a:custGeom>
            <a:avLst/>
            <a:gdLst/>
            <a:ahLst/>
            <a:cxnLst/>
            <a:rect r="r" b="b" t="t" l="l"/>
            <a:pathLst>
              <a:path h="6009009" w="6009009">
                <a:moveTo>
                  <a:pt x="0" y="0"/>
                </a:moveTo>
                <a:lnTo>
                  <a:pt x="6009010" y="0"/>
                </a:lnTo>
                <a:lnTo>
                  <a:pt x="6009010" y="6009009"/>
                </a:lnTo>
                <a:lnTo>
                  <a:pt x="0" y="6009009"/>
                </a:lnTo>
                <a:lnTo>
                  <a:pt x="0" y="0"/>
                </a:lnTo>
                <a:close/>
              </a:path>
            </a:pathLst>
          </a:custGeom>
          <a:blipFill>
            <a:blip r:embed="rId4">
              <a:alphaModFix amt="54000"/>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a:off x="-586350" y="1086038"/>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Freeform 5" id="5"/>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671014" y="2410257"/>
            <a:ext cx="7407833" cy="6670215"/>
          </a:xfrm>
          <a:custGeom>
            <a:avLst/>
            <a:gdLst/>
            <a:ahLst/>
            <a:cxnLst/>
            <a:rect r="r" b="b" t="t" l="l"/>
            <a:pathLst>
              <a:path h="6670215" w="7407833">
                <a:moveTo>
                  <a:pt x="0" y="0"/>
                </a:moveTo>
                <a:lnTo>
                  <a:pt x="7407833" y="0"/>
                </a:lnTo>
                <a:lnTo>
                  <a:pt x="7407833" y="6670215"/>
                </a:lnTo>
                <a:lnTo>
                  <a:pt x="0" y="6670215"/>
                </a:lnTo>
                <a:lnTo>
                  <a:pt x="0" y="0"/>
                </a:lnTo>
                <a:close/>
              </a:path>
            </a:pathLst>
          </a:custGeom>
          <a:blipFill>
            <a:blip r:embed="rId8"/>
            <a:stretch>
              <a:fillRect l="-16713" t="-7018" r="-67109" b="-7018"/>
            </a:stretch>
          </a:blipFill>
        </p:spPr>
      </p:sp>
      <p:sp>
        <p:nvSpPr>
          <p:cNvPr name="TextBox 7" id="7"/>
          <p:cNvSpPr txBox="true"/>
          <p:nvPr/>
        </p:nvSpPr>
        <p:spPr>
          <a:xfrm rot="0">
            <a:off x="9677324" y="2295957"/>
            <a:ext cx="7355167" cy="5183361"/>
          </a:xfrm>
          <a:prstGeom prst="rect">
            <a:avLst/>
          </a:prstGeom>
        </p:spPr>
        <p:txBody>
          <a:bodyPr anchor="t" rtlCol="false" tIns="0" lIns="0" bIns="0" rIns="0">
            <a:spAutoFit/>
          </a:bodyPr>
          <a:lstStyle/>
          <a:p>
            <a:pPr algn="l">
              <a:lnSpc>
                <a:spcPts val="4102"/>
              </a:lnSpc>
            </a:pPr>
            <a:r>
              <a:rPr lang="en-US" sz="2930">
                <a:solidFill>
                  <a:srgbClr val="FFFFFF"/>
                </a:solidFill>
                <a:latin typeface="Arian"/>
                <a:ea typeface="Arian"/>
                <a:cs typeface="Arian"/>
                <a:sym typeface="Arian"/>
              </a:rPr>
              <a:t>Binary Search Trees can provide fast searching when they remain balanced. However, the shape of a BST depends on the order in which data is inserted. In an unfavorable insertion order, the tree can become skewed and behave like a linked list. As a result, searching can degrade from O(log n) to O(n). This creates the need for a self-balancing search structure.</a:t>
            </a:r>
          </a:p>
        </p:txBody>
      </p:sp>
      <p:sp>
        <p:nvSpPr>
          <p:cNvPr name="TextBox 8" id="8"/>
          <p:cNvSpPr txBox="true"/>
          <p:nvPr/>
        </p:nvSpPr>
        <p:spPr>
          <a:xfrm rot="0">
            <a:off x="5449559" y="1114613"/>
            <a:ext cx="7925127" cy="1051887"/>
          </a:xfrm>
          <a:prstGeom prst="rect">
            <a:avLst/>
          </a:prstGeom>
        </p:spPr>
        <p:txBody>
          <a:bodyPr anchor="t" rtlCol="false" tIns="0" lIns="0" bIns="0" rIns="0">
            <a:spAutoFit/>
          </a:bodyPr>
          <a:lstStyle/>
          <a:p>
            <a:pPr algn="l">
              <a:lnSpc>
                <a:spcPts val="8696"/>
              </a:lnSpc>
            </a:pPr>
            <a:r>
              <a:rPr lang="en-US" sz="6212" spc="260" b="true">
                <a:solidFill>
                  <a:srgbClr val="FFFFFF"/>
                </a:solidFill>
                <a:latin typeface="TT Lakes Neue Extended Bold"/>
                <a:ea typeface="TT Lakes Neue Extended Bold"/>
                <a:cs typeface="TT Lakes Neue Extended Bold"/>
                <a:sym typeface="TT Lakes Neue Extended Bold"/>
              </a:rPr>
              <a:t>The Problem</a:t>
            </a:r>
          </a:p>
        </p:txBody>
      </p:sp>
      <p:sp>
        <p:nvSpPr>
          <p:cNvPr name="TextBox 9" id="9"/>
          <p:cNvSpPr txBox="true"/>
          <p:nvPr/>
        </p:nvSpPr>
        <p:spPr>
          <a:xfrm rot="0">
            <a:off x="9677324" y="8092970"/>
            <a:ext cx="4905627" cy="978938"/>
          </a:xfrm>
          <a:prstGeom prst="rect">
            <a:avLst/>
          </a:prstGeom>
        </p:spPr>
        <p:txBody>
          <a:bodyPr anchor="t" rtlCol="false" tIns="0" lIns="0" bIns="0" rIns="0">
            <a:spAutoFit/>
          </a:bodyPr>
          <a:lstStyle/>
          <a:p>
            <a:pPr algn="l" marL="584901" indent="-292450" lvl="1">
              <a:lnSpc>
                <a:spcPts val="3792"/>
              </a:lnSpc>
              <a:buFont typeface="Arial"/>
              <a:buChar char="•"/>
            </a:pPr>
            <a:r>
              <a:rPr lang="en-US" b="true" sz="2709">
                <a:solidFill>
                  <a:srgbClr val="FFFFFF"/>
                </a:solidFill>
                <a:latin typeface="Arian Bold"/>
                <a:ea typeface="Arian Bold"/>
                <a:cs typeface="Arian Bold"/>
                <a:sym typeface="Arian Bold"/>
              </a:rPr>
              <a:t>Worst Case: O(n)</a:t>
            </a:r>
          </a:p>
          <a:p>
            <a:pPr algn="l" marL="584901" indent="-292450" lvl="1">
              <a:lnSpc>
                <a:spcPts val="3792"/>
              </a:lnSpc>
              <a:buFont typeface="Arial"/>
              <a:buChar char="•"/>
            </a:pPr>
            <a:r>
              <a:rPr lang="en-US" b="true" sz="2709">
                <a:solidFill>
                  <a:srgbClr val="FFFFFF"/>
                </a:solidFill>
                <a:latin typeface="Arian Bold"/>
                <a:ea typeface="Arian Bold"/>
                <a:cs typeface="Arian Bold"/>
                <a:sym typeface="Arian Bold"/>
              </a:rPr>
              <a:t>Worst Case: O(n)</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5819796" y="-2180399"/>
            <a:ext cx="9808535" cy="9808535"/>
          </a:xfrm>
          <a:custGeom>
            <a:avLst/>
            <a:gdLst/>
            <a:ahLst/>
            <a:cxnLst/>
            <a:rect r="r" b="b" t="t" l="l"/>
            <a:pathLst>
              <a:path h="9808535" w="9808535">
                <a:moveTo>
                  <a:pt x="0" y="0"/>
                </a:moveTo>
                <a:lnTo>
                  <a:pt x="9808535" y="0"/>
                </a:lnTo>
                <a:lnTo>
                  <a:pt x="9808535" y="9808535"/>
                </a:lnTo>
                <a:lnTo>
                  <a:pt x="0" y="9808535"/>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073168">
            <a:off x="7545162" y="942183"/>
            <a:ext cx="11610040" cy="8570320"/>
          </a:xfrm>
          <a:custGeom>
            <a:avLst/>
            <a:gdLst/>
            <a:ahLst/>
            <a:cxnLst/>
            <a:rect r="r" b="b" t="t" l="l"/>
            <a:pathLst>
              <a:path h="8570320" w="11610040">
                <a:moveTo>
                  <a:pt x="0" y="0"/>
                </a:moveTo>
                <a:lnTo>
                  <a:pt x="11610040" y="0"/>
                </a:lnTo>
                <a:lnTo>
                  <a:pt x="11610040" y="8570321"/>
                </a:lnTo>
                <a:lnTo>
                  <a:pt x="0" y="8570321"/>
                </a:lnTo>
                <a:lnTo>
                  <a:pt x="0" y="0"/>
                </a:lnTo>
                <a:close/>
              </a:path>
            </a:pathLst>
          </a:custGeom>
          <a:blipFill>
            <a:blip r:embed="rId4">
              <a:alphaModFix amt="42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83495" y="7832730"/>
            <a:ext cx="6009009" cy="6009009"/>
          </a:xfrm>
          <a:custGeom>
            <a:avLst/>
            <a:gdLst/>
            <a:ahLst/>
            <a:cxnLst/>
            <a:rect r="r" b="b" t="t" l="l"/>
            <a:pathLst>
              <a:path h="6009009" w="6009009">
                <a:moveTo>
                  <a:pt x="0" y="0"/>
                </a:moveTo>
                <a:lnTo>
                  <a:pt x="6009010" y="0"/>
                </a:lnTo>
                <a:lnTo>
                  <a:pt x="6009010" y="6009009"/>
                </a:lnTo>
                <a:lnTo>
                  <a:pt x="0" y="6009009"/>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Freeform 6" id="6"/>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545575" y="3861476"/>
            <a:ext cx="8444733" cy="4999667"/>
          </a:xfrm>
          <a:custGeom>
            <a:avLst/>
            <a:gdLst/>
            <a:ahLst/>
            <a:cxnLst/>
            <a:rect r="r" b="b" t="t" l="l"/>
            <a:pathLst>
              <a:path h="4999667" w="8444733">
                <a:moveTo>
                  <a:pt x="0" y="0"/>
                </a:moveTo>
                <a:lnTo>
                  <a:pt x="8444733" y="0"/>
                </a:lnTo>
                <a:lnTo>
                  <a:pt x="8444733" y="4999667"/>
                </a:lnTo>
                <a:lnTo>
                  <a:pt x="0" y="4999667"/>
                </a:lnTo>
                <a:lnTo>
                  <a:pt x="0" y="0"/>
                </a:lnTo>
                <a:close/>
              </a:path>
            </a:pathLst>
          </a:custGeom>
          <a:blipFill>
            <a:blip r:embed="rId10"/>
            <a:stretch>
              <a:fillRect l="-18541" t="0" r="-9742" b="-21035"/>
            </a:stretch>
          </a:blipFill>
        </p:spPr>
      </p:sp>
      <p:sp>
        <p:nvSpPr>
          <p:cNvPr name="TextBox 8" id="8"/>
          <p:cNvSpPr txBox="true"/>
          <p:nvPr/>
        </p:nvSpPr>
        <p:spPr>
          <a:xfrm rot="0">
            <a:off x="1028700" y="1361981"/>
            <a:ext cx="15820458" cy="1068702"/>
          </a:xfrm>
          <a:prstGeom prst="rect">
            <a:avLst/>
          </a:prstGeom>
        </p:spPr>
        <p:txBody>
          <a:bodyPr anchor="t" rtlCol="false" tIns="0" lIns="0" bIns="0" rIns="0">
            <a:spAutoFit/>
          </a:bodyPr>
          <a:lstStyle/>
          <a:p>
            <a:pPr algn="l">
              <a:lnSpc>
                <a:spcPts val="8820"/>
              </a:lnSpc>
            </a:pPr>
            <a:r>
              <a:rPr lang="en-US" sz="6300" spc="264" b="true">
                <a:solidFill>
                  <a:srgbClr val="FFFFFF"/>
                </a:solidFill>
                <a:latin typeface="TT Lakes Neue Extended Bold"/>
                <a:ea typeface="TT Lakes Neue Extended Bold"/>
                <a:cs typeface="TT Lakes Neue Extended Bold"/>
                <a:sym typeface="TT Lakes Neue Extended Bold"/>
              </a:rPr>
              <a:t>Why Do We Need AVL Trees?</a:t>
            </a:r>
          </a:p>
        </p:txBody>
      </p:sp>
      <p:sp>
        <p:nvSpPr>
          <p:cNvPr name="TextBox 9" id="9"/>
          <p:cNvSpPr txBox="true"/>
          <p:nvPr/>
        </p:nvSpPr>
        <p:spPr>
          <a:xfrm rot="0">
            <a:off x="1839250" y="3097433"/>
            <a:ext cx="6819786" cy="878327"/>
          </a:xfrm>
          <a:prstGeom prst="rect">
            <a:avLst/>
          </a:prstGeom>
        </p:spPr>
        <p:txBody>
          <a:bodyPr anchor="t" rtlCol="false" tIns="0" lIns="0" bIns="0" rIns="0">
            <a:spAutoFit/>
          </a:bodyPr>
          <a:lstStyle/>
          <a:p>
            <a:pPr algn="l">
              <a:lnSpc>
                <a:spcPts val="7238"/>
              </a:lnSpc>
            </a:pPr>
            <a:r>
              <a:rPr lang="en-US" sz="5170" spc="217">
                <a:solidFill>
                  <a:srgbClr val="FFFFFF"/>
                </a:solidFill>
                <a:latin typeface="TT Lakes Neue Extended"/>
                <a:ea typeface="TT Lakes Neue Extended"/>
                <a:cs typeface="TT Lakes Neue Extended"/>
                <a:sym typeface="TT Lakes Neue Extended"/>
              </a:rPr>
              <a:t>The Problem</a:t>
            </a:r>
          </a:p>
        </p:txBody>
      </p:sp>
      <p:sp>
        <p:nvSpPr>
          <p:cNvPr name="TextBox 10" id="10"/>
          <p:cNvSpPr txBox="true"/>
          <p:nvPr/>
        </p:nvSpPr>
        <p:spPr>
          <a:xfrm rot="0">
            <a:off x="1839250" y="4626989"/>
            <a:ext cx="6948286" cy="554991"/>
          </a:xfrm>
          <a:prstGeom prst="rect">
            <a:avLst/>
          </a:prstGeom>
        </p:spPr>
        <p:txBody>
          <a:bodyPr anchor="t" rtlCol="false" tIns="0" lIns="0" bIns="0" rIns="0">
            <a:spAutoFit/>
          </a:bodyPr>
          <a:lstStyle/>
          <a:p>
            <a:pPr algn="l">
              <a:lnSpc>
                <a:spcPts val="4059"/>
              </a:lnSpc>
            </a:pPr>
            <a:r>
              <a:rPr lang="en-US" sz="2899" b="true">
                <a:solidFill>
                  <a:srgbClr val="FFFFFF"/>
                </a:solidFill>
                <a:latin typeface="Arian Bold"/>
                <a:ea typeface="Arian Bold"/>
                <a:cs typeface="Arian Bold"/>
                <a:sym typeface="Arian Bold"/>
              </a:rPr>
              <a:t>Unbalanced BST</a:t>
            </a:r>
          </a:p>
        </p:txBody>
      </p:sp>
      <p:sp>
        <p:nvSpPr>
          <p:cNvPr name="TextBox 11" id="11"/>
          <p:cNvSpPr txBox="true"/>
          <p:nvPr/>
        </p:nvSpPr>
        <p:spPr>
          <a:xfrm rot="0">
            <a:off x="1839250" y="6790000"/>
            <a:ext cx="6948286" cy="554991"/>
          </a:xfrm>
          <a:prstGeom prst="rect">
            <a:avLst/>
          </a:prstGeom>
        </p:spPr>
        <p:txBody>
          <a:bodyPr anchor="t" rtlCol="false" tIns="0" lIns="0" bIns="0" rIns="0">
            <a:spAutoFit/>
          </a:bodyPr>
          <a:lstStyle/>
          <a:p>
            <a:pPr algn="l">
              <a:lnSpc>
                <a:spcPts val="4059"/>
              </a:lnSpc>
            </a:pPr>
            <a:r>
              <a:rPr lang="en-US" sz="2899" b="true">
                <a:solidFill>
                  <a:srgbClr val="FFFFFF"/>
                </a:solidFill>
                <a:latin typeface="Arian Bold"/>
                <a:ea typeface="Arian Bold"/>
                <a:cs typeface="Arian Bold"/>
                <a:sym typeface="Arian Bold"/>
              </a:rPr>
              <a:t>The Need</a:t>
            </a:r>
          </a:p>
        </p:txBody>
      </p:sp>
      <p:sp>
        <p:nvSpPr>
          <p:cNvPr name="TextBox 12" id="12"/>
          <p:cNvSpPr txBox="true"/>
          <p:nvPr/>
        </p:nvSpPr>
        <p:spPr>
          <a:xfrm rot="0">
            <a:off x="1839250" y="5197749"/>
            <a:ext cx="7706325" cy="1435100"/>
          </a:xfrm>
          <a:prstGeom prst="rect">
            <a:avLst/>
          </a:prstGeom>
        </p:spPr>
        <p:txBody>
          <a:bodyPr anchor="t" rtlCol="false" tIns="0" lIns="0" bIns="0" rIns="0">
            <a:spAutoFit/>
          </a:bodyPr>
          <a:lstStyle/>
          <a:p>
            <a:pPr algn="l">
              <a:lnSpc>
                <a:spcPts val="2799"/>
              </a:lnSpc>
            </a:pPr>
            <a:r>
              <a:rPr lang="en-US" sz="1999">
                <a:solidFill>
                  <a:srgbClr val="FFFFFF"/>
                </a:solidFill>
                <a:latin typeface="Arian"/>
                <a:ea typeface="Arian"/>
                <a:cs typeface="Arian"/>
                <a:sym typeface="Arian"/>
              </a:rPr>
              <a:t>When data is inserted in an unfavorable order, a BST can become skewed. Its height increases, making the tree behave like a linked list and causing search performance to degrade to O(n).</a:t>
            </a:r>
          </a:p>
        </p:txBody>
      </p:sp>
      <p:sp>
        <p:nvSpPr>
          <p:cNvPr name="TextBox 13" id="13"/>
          <p:cNvSpPr txBox="true"/>
          <p:nvPr/>
        </p:nvSpPr>
        <p:spPr>
          <a:xfrm rot="0">
            <a:off x="1839250" y="7273665"/>
            <a:ext cx="7706325" cy="1435100"/>
          </a:xfrm>
          <a:prstGeom prst="rect">
            <a:avLst/>
          </a:prstGeom>
        </p:spPr>
        <p:txBody>
          <a:bodyPr anchor="t" rtlCol="false" tIns="0" lIns="0" bIns="0" rIns="0">
            <a:spAutoFit/>
          </a:bodyPr>
          <a:lstStyle/>
          <a:p>
            <a:pPr algn="l">
              <a:lnSpc>
                <a:spcPts val="2799"/>
              </a:lnSpc>
            </a:pPr>
            <a:r>
              <a:rPr lang="en-US" sz="1999">
                <a:solidFill>
                  <a:srgbClr val="FFFFFF"/>
                </a:solidFill>
                <a:latin typeface="Arian"/>
                <a:ea typeface="Arian"/>
                <a:cs typeface="Arian"/>
                <a:sym typeface="Arian"/>
              </a:rPr>
              <a:t>We need a search structure that can maintain its balance automatically as data changes. AVL trees solve this problem by monitoring the balance of each node and using rotations to restore balance when necessary.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1227460">
            <a:off x="-1454951" y="-306184"/>
            <a:ext cx="8209501" cy="6060105"/>
          </a:xfrm>
          <a:custGeom>
            <a:avLst/>
            <a:gdLst/>
            <a:ahLst/>
            <a:cxnLst/>
            <a:rect r="r" b="b" t="t" l="l"/>
            <a:pathLst>
              <a:path h="6060105" w="8209501">
                <a:moveTo>
                  <a:pt x="0" y="0"/>
                </a:moveTo>
                <a:lnTo>
                  <a:pt x="8209502" y="0"/>
                </a:lnTo>
                <a:lnTo>
                  <a:pt x="8209502" y="6060105"/>
                </a:lnTo>
                <a:lnTo>
                  <a:pt x="0" y="606010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48120" y="5574887"/>
            <a:ext cx="9808535" cy="9808535"/>
          </a:xfrm>
          <a:custGeom>
            <a:avLst/>
            <a:gdLst/>
            <a:ahLst/>
            <a:cxnLst/>
            <a:rect r="r" b="b" t="t" l="l"/>
            <a:pathLst>
              <a:path h="9808535" w="9808535">
                <a:moveTo>
                  <a:pt x="0" y="0"/>
                </a:moveTo>
                <a:lnTo>
                  <a:pt x="9808534" y="0"/>
                </a:lnTo>
                <a:lnTo>
                  <a:pt x="9808534" y="9808535"/>
                </a:lnTo>
                <a:lnTo>
                  <a:pt x="0" y="9808535"/>
                </a:lnTo>
                <a:lnTo>
                  <a:pt x="0" y="0"/>
                </a:lnTo>
                <a:close/>
              </a:path>
            </a:pathLst>
          </a:custGeom>
          <a:blipFill>
            <a:blip r:embed="rId4">
              <a:alphaModFix amt="6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44577" y="-3139707"/>
            <a:ext cx="6009009" cy="6009009"/>
          </a:xfrm>
          <a:custGeom>
            <a:avLst/>
            <a:gdLst/>
            <a:ahLst/>
            <a:cxnLst/>
            <a:rect r="r" b="b" t="t" l="l"/>
            <a:pathLst>
              <a:path h="6009009" w="6009009">
                <a:moveTo>
                  <a:pt x="0" y="0"/>
                </a:moveTo>
                <a:lnTo>
                  <a:pt x="6009009" y="0"/>
                </a:lnTo>
                <a:lnTo>
                  <a:pt x="6009009" y="6009009"/>
                </a:lnTo>
                <a:lnTo>
                  <a:pt x="0" y="6009009"/>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535547" y="1122192"/>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Freeform 6" id="6"/>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002504" y="3625270"/>
            <a:ext cx="8466316" cy="5135066"/>
          </a:xfrm>
          <a:custGeom>
            <a:avLst/>
            <a:gdLst/>
            <a:ahLst/>
            <a:cxnLst/>
            <a:rect r="r" b="b" t="t" l="l"/>
            <a:pathLst>
              <a:path h="5135066" w="8466316">
                <a:moveTo>
                  <a:pt x="0" y="0"/>
                </a:moveTo>
                <a:lnTo>
                  <a:pt x="8466316" y="0"/>
                </a:lnTo>
                <a:lnTo>
                  <a:pt x="8466316" y="5135066"/>
                </a:lnTo>
                <a:lnTo>
                  <a:pt x="0" y="5135066"/>
                </a:lnTo>
                <a:lnTo>
                  <a:pt x="0" y="0"/>
                </a:lnTo>
                <a:close/>
              </a:path>
            </a:pathLst>
          </a:custGeom>
          <a:blipFill>
            <a:blip r:embed="rId10"/>
            <a:stretch>
              <a:fillRect l="-11062" t="-3234" r="-1031" b="0"/>
            </a:stretch>
          </a:blipFill>
        </p:spPr>
      </p:sp>
      <p:sp>
        <p:nvSpPr>
          <p:cNvPr name="TextBox 8" id="8"/>
          <p:cNvSpPr txBox="true"/>
          <p:nvPr/>
        </p:nvSpPr>
        <p:spPr>
          <a:xfrm rot="0">
            <a:off x="1028700" y="3922270"/>
            <a:ext cx="6948286" cy="4838066"/>
          </a:xfrm>
          <a:prstGeom prst="rect">
            <a:avLst/>
          </a:prstGeom>
        </p:spPr>
        <p:txBody>
          <a:bodyPr anchor="t" rtlCol="false" tIns="0" lIns="0" bIns="0" rIns="0">
            <a:spAutoFit/>
          </a:bodyPr>
          <a:lstStyle/>
          <a:p>
            <a:pPr algn="l">
              <a:lnSpc>
                <a:spcPts val="4759"/>
              </a:lnSpc>
            </a:pPr>
            <a:r>
              <a:rPr lang="en-US" sz="3399">
                <a:solidFill>
                  <a:srgbClr val="FFFFFF"/>
                </a:solidFill>
                <a:latin typeface="Arian"/>
                <a:ea typeface="Arian"/>
                <a:cs typeface="Arian"/>
                <a:sym typeface="Arian"/>
              </a:rPr>
              <a:t>An AVL tree is a self-balancing Binary Search Tree (BST). It automatically maintains its height by checking the balance of each node. If the tree becomes unbalanced after an insertion or deletion, rotations are used to restore balance.</a:t>
            </a:r>
          </a:p>
        </p:txBody>
      </p:sp>
      <p:sp>
        <p:nvSpPr>
          <p:cNvPr name="TextBox 9" id="9"/>
          <p:cNvSpPr txBox="true"/>
          <p:nvPr/>
        </p:nvSpPr>
        <p:spPr>
          <a:xfrm rot="0">
            <a:off x="914416" y="1415819"/>
            <a:ext cx="11807513" cy="1077491"/>
          </a:xfrm>
          <a:prstGeom prst="rect">
            <a:avLst/>
          </a:prstGeom>
        </p:spPr>
        <p:txBody>
          <a:bodyPr anchor="t" rtlCol="false" tIns="0" lIns="0" bIns="0" rIns="0">
            <a:spAutoFit/>
          </a:bodyPr>
          <a:lstStyle/>
          <a:p>
            <a:pPr algn="l">
              <a:lnSpc>
                <a:spcPts val="8860"/>
              </a:lnSpc>
            </a:pPr>
            <a:r>
              <a:rPr lang="en-US" sz="6329" spc="265" b="true">
                <a:solidFill>
                  <a:srgbClr val="FFFFFF"/>
                </a:solidFill>
                <a:latin typeface="TT Lakes Neue Extended Bold"/>
                <a:ea typeface="TT Lakes Neue Extended Bold"/>
                <a:cs typeface="TT Lakes Neue Extended Bold"/>
                <a:sym typeface="TT Lakes Neue Extended Bold"/>
              </a:rPr>
              <a:t>What Is an AVL Tree?</a:t>
            </a:r>
          </a:p>
        </p:txBody>
      </p:sp>
      <p:sp>
        <p:nvSpPr>
          <p:cNvPr name="TextBox 10" id="10"/>
          <p:cNvSpPr txBox="true"/>
          <p:nvPr/>
        </p:nvSpPr>
        <p:spPr>
          <a:xfrm rot="0">
            <a:off x="1028700" y="2746944"/>
            <a:ext cx="7935092" cy="878327"/>
          </a:xfrm>
          <a:prstGeom prst="rect">
            <a:avLst/>
          </a:prstGeom>
        </p:spPr>
        <p:txBody>
          <a:bodyPr anchor="t" rtlCol="false" tIns="0" lIns="0" bIns="0" rIns="0">
            <a:spAutoFit/>
          </a:bodyPr>
          <a:lstStyle/>
          <a:p>
            <a:pPr algn="l">
              <a:lnSpc>
                <a:spcPts val="7238"/>
              </a:lnSpc>
            </a:pPr>
            <a:r>
              <a:rPr lang="en-US" sz="5170" spc="217">
                <a:solidFill>
                  <a:srgbClr val="FFFFFF"/>
                </a:solidFill>
                <a:latin typeface="TT Lakes Neue Extended"/>
                <a:ea typeface="TT Lakes Neue Extended"/>
                <a:cs typeface="TT Lakes Neue Extended"/>
                <a:sym typeface="TT Lakes Neue Extended"/>
              </a:rPr>
              <a:t>Self-Balancing BST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1227460">
            <a:off x="7879312" y="578427"/>
            <a:ext cx="8209501" cy="6060105"/>
          </a:xfrm>
          <a:custGeom>
            <a:avLst/>
            <a:gdLst/>
            <a:ahLst/>
            <a:cxnLst/>
            <a:rect r="r" b="b" t="t" l="l"/>
            <a:pathLst>
              <a:path h="6060105" w="8209501">
                <a:moveTo>
                  <a:pt x="0" y="0"/>
                </a:moveTo>
                <a:lnTo>
                  <a:pt x="8209502" y="0"/>
                </a:lnTo>
                <a:lnTo>
                  <a:pt x="8209502" y="6060104"/>
                </a:lnTo>
                <a:lnTo>
                  <a:pt x="0" y="606010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710048" y="6083401"/>
            <a:ext cx="6009009" cy="6009009"/>
          </a:xfrm>
          <a:custGeom>
            <a:avLst/>
            <a:gdLst/>
            <a:ahLst/>
            <a:cxnLst/>
            <a:rect r="r" b="b" t="t" l="l"/>
            <a:pathLst>
              <a:path h="6009009" w="6009009">
                <a:moveTo>
                  <a:pt x="0" y="0"/>
                </a:moveTo>
                <a:lnTo>
                  <a:pt x="6009010" y="0"/>
                </a:lnTo>
                <a:lnTo>
                  <a:pt x="6009010" y="6009009"/>
                </a:lnTo>
                <a:lnTo>
                  <a:pt x="0" y="6009009"/>
                </a:lnTo>
                <a:lnTo>
                  <a:pt x="0" y="0"/>
                </a:lnTo>
                <a:close/>
              </a:path>
            </a:pathLst>
          </a:custGeom>
          <a:blipFill>
            <a:blip r:embed="rId4">
              <a:alphaModFix amt="5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5415074" y="4880359"/>
            <a:ext cx="9808535" cy="9808535"/>
          </a:xfrm>
          <a:custGeom>
            <a:avLst/>
            <a:gdLst/>
            <a:ahLst/>
            <a:cxnLst/>
            <a:rect r="r" b="b" t="t" l="l"/>
            <a:pathLst>
              <a:path h="9808535" w="9808535">
                <a:moveTo>
                  <a:pt x="0" y="0"/>
                </a:moveTo>
                <a:lnTo>
                  <a:pt x="9808534" y="0"/>
                </a:lnTo>
                <a:lnTo>
                  <a:pt x="9808534" y="9808535"/>
                </a:lnTo>
                <a:lnTo>
                  <a:pt x="0" y="9808535"/>
                </a:lnTo>
                <a:lnTo>
                  <a:pt x="0" y="0"/>
                </a:lnTo>
                <a:close/>
              </a:path>
            </a:pathLst>
          </a:custGeom>
          <a:blipFill>
            <a:blip r:embed="rId6">
              <a:alphaModFix amt="64000"/>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Freeform 6" id="6"/>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240178" y="2511103"/>
            <a:ext cx="9460103" cy="5285360"/>
          </a:xfrm>
          <a:custGeom>
            <a:avLst/>
            <a:gdLst/>
            <a:ahLst/>
            <a:cxnLst/>
            <a:rect r="r" b="b" t="t" l="l"/>
            <a:pathLst>
              <a:path h="5285360" w="9460103">
                <a:moveTo>
                  <a:pt x="0" y="0"/>
                </a:moveTo>
                <a:lnTo>
                  <a:pt x="9460103" y="0"/>
                </a:lnTo>
                <a:lnTo>
                  <a:pt x="9460103" y="5285360"/>
                </a:lnTo>
                <a:lnTo>
                  <a:pt x="0" y="5285360"/>
                </a:lnTo>
                <a:lnTo>
                  <a:pt x="0" y="0"/>
                </a:lnTo>
                <a:close/>
              </a:path>
            </a:pathLst>
          </a:custGeom>
          <a:blipFill>
            <a:blip r:embed="rId10"/>
            <a:stretch>
              <a:fillRect l="-3254" t="-3077" r="0" b="-157"/>
            </a:stretch>
          </a:blipFill>
        </p:spPr>
      </p:sp>
      <p:sp>
        <p:nvSpPr>
          <p:cNvPr name="TextBox 8" id="8"/>
          <p:cNvSpPr txBox="true"/>
          <p:nvPr/>
        </p:nvSpPr>
        <p:spPr>
          <a:xfrm rot="0">
            <a:off x="3928881" y="28275"/>
            <a:ext cx="10430237" cy="1368426"/>
          </a:xfrm>
          <a:prstGeom prst="rect">
            <a:avLst/>
          </a:prstGeom>
        </p:spPr>
        <p:txBody>
          <a:bodyPr anchor="t" rtlCol="false" tIns="0" lIns="0" bIns="0" rIns="0">
            <a:spAutoFit/>
          </a:bodyPr>
          <a:lstStyle/>
          <a:p>
            <a:pPr algn="l">
              <a:lnSpc>
                <a:spcPts val="11199"/>
              </a:lnSpc>
            </a:pPr>
            <a:r>
              <a:rPr lang="en-US" sz="7999" spc="335" b="true">
                <a:solidFill>
                  <a:srgbClr val="FFFFFF"/>
                </a:solidFill>
                <a:latin typeface="TT Lakes Neue Extended Bold"/>
                <a:ea typeface="TT Lakes Neue Extended Bold"/>
                <a:cs typeface="TT Lakes Neue Extended Bold"/>
                <a:sym typeface="TT Lakes Neue Extended Bold"/>
              </a:rPr>
              <a:t>Balance Factor</a:t>
            </a:r>
          </a:p>
        </p:txBody>
      </p:sp>
      <p:sp>
        <p:nvSpPr>
          <p:cNvPr name="TextBox 9" id="9"/>
          <p:cNvSpPr txBox="true"/>
          <p:nvPr/>
        </p:nvSpPr>
        <p:spPr>
          <a:xfrm rot="0">
            <a:off x="9785485" y="1755332"/>
            <a:ext cx="8305473" cy="788791"/>
          </a:xfrm>
          <a:prstGeom prst="rect">
            <a:avLst/>
          </a:prstGeom>
        </p:spPr>
        <p:txBody>
          <a:bodyPr anchor="t" rtlCol="false" tIns="0" lIns="0" bIns="0" rIns="0">
            <a:spAutoFit/>
          </a:bodyPr>
          <a:lstStyle/>
          <a:p>
            <a:pPr algn="l">
              <a:lnSpc>
                <a:spcPts val="6398"/>
              </a:lnSpc>
            </a:pPr>
            <a:r>
              <a:rPr lang="en-US" sz="4570" spc="191">
                <a:solidFill>
                  <a:srgbClr val="FFFFFF"/>
                </a:solidFill>
                <a:latin typeface="TT Lakes Neue Extended"/>
                <a:ea typeface="TT Lakes Neue Extended"/>
                <a:cs typeface="TT Lakes Neue Extended"/>
                <a:sym typeface="TT Lakes Neue Extended"/>
              </a:rPr>
              <a:t>The Key to AVL Balance</a:t>
            </a:r>
          </a:p>
        </p:txBody>
      </p:sp>
      <p:sp>
        <p:nvSpPr>
          <p:cNvPr name="TextBox 10" id="10"/>
          <p:cNvSpPr txBox="true"/>
          <p:nvPr/>
        </p:nvSpPr>
        <p:spPr>
          <a:xfrm rot="0">
            <a:off x="9785485" y="2791843"/>
            <a:ext cx="8372979" cy="1583691"/>
          </a:xfrm>
          <a:prstGeom prst="rect">
            <a:avLst/>
          </a:prstGeom>
        </p:spPr>
        <p:txBody>
          <a:bodyPr anchor="t" rtlCol="false" tIns="0" lIns="0" bIns="0" rIns="0">
            <a:spAutoFit/>
          </a:bodyPr>
          <a:lstStyle/>
          <a:p>
            <a:pPr algn="l" marL="626102" indent="-313051" lvl="1">
              <a:lnSpc>
                <a:spcPts val="4059"/>
              </a:lnSpc>
              <a:buFont typeface="Arial"/>
              <a:buChar char="•"/>
            </a:pPr>
            <a:r>
              <a:rPr lang="en-US" sz="2899">
                <a:solidFill>
                  <a:srgbClr val="FFFFFF"/>
                </a:solidFill>
                <a:latin typeface="Arian"/>
                <a:ea typeface="Arian"/>
                <a:cs typeface="Arian"/>
                <a:sym typeface="Arian"/>
              </a:rPr>
              <a:t>The balance factor of a node is calculated as the height of its left subtree minus the height of its right subtree.</a:t>
            </a:r>
          </a:p>
        </p:txBody>
      </p:sp>
      <p:sp>
        <p:nvSpPr>
          <p:cNvPr name="TextBox 11" id="11"/>
          <p:cNvSpPr txBox="true"/>
          <p:nvPr/>
        </p:nvSpPr>
        <p:spPr>
          <a:xfrm rot="0">
            <a:off x="9937863" y="4775584"/>
            <a:ext cx="8592783" cy="1006073"/>
          </a:xfrm>
          <a:prstGeom prst="rect">
            <a:avLst/>
          </a:prstGeom>
        </p:spPr>
        <p:txBody>
          <a:bodyPr anchor="t" rtlCol="false" tIns="0" lIns="0" bIns="0" rIns="0">
            <a:spAutoFit/>
          </a:bodyPr>
          <a:lstStyle/>
          <a:p>
            <a:pPr algn="l" marL="597139" indent="-298569" lvl="1">
              <a:lnSpc>
                <a:spcPts val="3872"/>
              </a:lnSpc>
              <a:buFont typeface="Arial"/>
              <a:buChar char="•"/>
            </a:pPr>
            <a:r>
              <a:rPr lang="en-US" b="true" sz="2765">
                <a:solidFill>
                  <a:srgbClr val="FFFFFF"/>
                </a:solidFill>
                <a:latin typeface="Arian Bold"/>
                <a:ea typeface="Arian Bold"/>
                <a:cs typeface="Arian Bold"/>
                <a:sym typeface="Arian Bold"/>
              </a:rPr>
              <a:t>Balance Factor = Height(Left) − Height(Right)</a:t>
            </a:r>
          </a:p>
        </p:txBody>
      </p:sp>
      <p:sp>
        <p:nvSpPr>
          <p:cNvPr name="TextBox 12" id="12"/>
          <p:cNvSpPr txBox="true"/>
          <p:nvPr/>
        </p:nvSpPr>
        <p:spPr>
          <a:xfrm rot="0">
            <a:off x="9785485" y="6183919"/>
            <a:ext cx="8080156" cy="1112754"/>
          </a:xfrm>
          <a:prstGeom prst="rect">
            <a:avLst/>
          </a:prstGeom>
        </p:spPr>
        <p:txBody>
          <a:bodyPr anchor="t" rtlCol="false" tIns="0" lIns="0" bIns="0" rIns="0">
            <a:spAutoFit/>
          </a:bodyPr>
          <a:lstStyle/>
          <a:p>
            <a:pPr algn="l" marL="661907" indent="-330954" lvl="1">
              <a:lnSpc>
                <a:spcPts val="4292"/>
              </a:lnSpc>
              <a:spcBef>
                <a:spcPct val="0"/>
              </a:spcBef>
              <a:buFont typeface="Arial"/>
              <a:buChar char="•"/>
            </a:pPr>
            <a:r>
              <a:rPr lang="en-US" b="true" sz="3065">
                <a:solidFill>
                  <a:srgbClr val="FFFFFF"/>
                </a:solidFill>
                <a:latin typeface="Arian Bold"/>
                <a:ea typeface="Arian Bold"/>
                <a:cs typeface="Arian Bold"/>
                <a:sym typeface="Arian Bold"/>
              </a:rPr>
              <a:t>In an AVL tree, every node must have </a:t>
            </a:r>
            <a:r>
              <a:rPr lang="en-US" b="true" sz="3065">
                <a:solidFill>
                  <a:srgbClr val="FFFFFF"/>
                </a:solidFill>
                <a:latin typeface="Arian Bold"/>
                <a:ea typeface="Arian Bold"/>
                <a:cs typeface="Arian Bold"/>
                <a:sym typeface="Arian Bold"/>
              </a:rPr>
              <a:t>a balance factor of −1, 0, or +1.</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743786">
            <a:off x="-2052015" y="1636468"/>
            <a:ext cx="8209501" cy="6060105"/>
          </a:xfrm>
          <a:custGeom>
            <a:avLst/>
            <a:gdLst/>
            <a:ahLst/>
            <a:cxnLst/>
            <a:rect r="r" b="b" t="t" l="l"/>
            <a:pathLst>
              <a:path h="6060105" w="8209501">
                <a:moveTo>
                  <a:pt x="0" y="0"/>
                </a:moveTo>
                <a:lnTo>
                  <a:pt x="8209501" y="0"/>
                </a:lnTo>
                <a:lnTo>
                  <a:pt x="8209501" y="6060105"/>
                </a:lnTo>
                <a:lnTo>
                  <a:pt x="0" y="6060105"/>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148120" y="5382733"/>
            <a:ext cx="9808535" cy="9808535"/>
          </a:xfrm>
          <a:custGeom>
            <a:avLst/>
            <a:gdLst/>
            <a:ahLst/>
            <a:cxnLst/>
            <a:rect r="r" b="b" t="t" l="l"/>
            <a:pathLst>
              <a:path h="9808535" w="9808535">
                <a:moveTo>
                  <a:pt x="0" y="0"/>
                </a:moveTo>
                <a:lnTo>
                  <a:pt x="9808534" y="0"/>
                </a:lnTo>
                <a:lnTo>
                  <a:pt x="9808534" y="9808534"/>
                </a:lnTo>
                <a:lnTo>
                  <a:pt x="0" y="9808534"/>
                </a:lnTo>
                <a:lnTo>
                  <a:pt x="0" y="0"/>
                </a:lnTo>
                <a:close/>
              </a:path>
            </a:pathLst>
          </a:custGeom>
          <a:blipFill>
            <a:blip r:embed="rId4">
              <a:alphaModFix amt="6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44577" y="-3139707"/>
            <a:ext cx="6009009" cy="6009009"/>
          </a:xfrm>
          <a:custGeom>
            <a:avLst/>
            <a:gdLst/>
            <a:ahLst/>
            <a:cxnLst/>
            <a:rect r="r" b="b" t="t" l="l"/>
            <a:pathLst>
              <a:path h="6009009" w="6009009">
                <a:moveTo>
                  <a:pt x="0" y="0"/>
                </a:moveTo>
                <a:lnTo>
                  <a:pt x="6009009" y="0"/>
                </a:lnTo>
                <a:lnTo>
                  <a:pt x="6009009" y="6009009"/>
                </a:lnTo>
                <a:lnTo>
                  <a:pt x="0" y="6009009"/>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Freeform 6" id="6"/>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5862" y="5714121"/>
            <a:ext cx="4661866" cy="2510649"/>
          </a:xfrm>
          <a:custGeom>
            <a:avLst/>
            <a:gdLst/>
            <a:ahLst/>
            <a:cxnLst/>
            <a:rect r="r" b="b" t="t" l="l"/>
            <a:pathLst>
              <a:path h="2510649" w="4661866">
                <a:moveTo>
                  <a:pt x="0" y="0"/>
                </a:moveTo>
                <a:lnTo>
                  <a:pt x="4661866" y="0"/>
                </a:lnTo>
                <a:lnTo>
                  <a:pt x="4661866" y="2510649"/>
                </a:lnTo>
                <a:lnTo>
                  <a:pt x="0" y="2510649"/>
                </a:lnTo>
                <a:lnTo>
                  <a:pt x="0" y="0"/>
                </a:lnTo>
                <a:close/>
              </a:path>
            </a:pathLst>
          </a:custGeom>
          <a:blipFill>
            <a:blip r:embed="rId10"/>
            <a:stretch>
              <a:fillRect l="-10101" t="-14598" r="0" b="-121800"/>
            </a:stretch>
          </a:blipFill>
        </p:spPr>
      </p:sp>
      <p:sp>
        <p:nvSpPr>
          <p:cNvPr name="Freeform 8" id="8"/>
          <p:cNvSpPr/>
          <p:nvPr/>
        </p:nvSpPr>
        <p:spPr>
          <a:xfrm flipH="false" flipV="false" rot="0">
            <a:off x="9102759" y="5668836"/>
            <a:ext cx="4510161" cy="2555934"/>
          </a:xfrm>
          <a:custGeom>
            <a:avLst/>
            <a:gdLst/>
            <a:ahLst/>
            <a:cxnLst/>
            <a:rect r="r" b="b" t="t" l="l"/>
            <a:pathLst>
              <a:path h="2555934" w="4510161">
                <a:moveTo>
                  <a:pt x="0" y="0"/>
                </a:moveTo>
                <a:lnTo>
                  <a:pt x="4510162" y="0"/>
                </a:lnTo>
                <a:lnTo>
                  <a:pt x="4510162" y="2555934"/>
                </a:lnTo>
                <a:lnTo>
                  <a:pt x="0" y="2555934"/>
                </a:lnTo>
                <a:lnTo>
                  <a:pt x="0" y="0"/>
                </a:lnTo>
                <a:close/>
              </a:path>
            </a:pathLst>
          </a:custGeom>
          <a:blipFill>
            <a:blip r:embed="rId10"/>
            <a:stretch>
              <a:fillRect l="-6849" t="-108774" r="0" b="-9242"/>
            </a:stretch>
          </a:blipFill>
        </p:spPr>
      </p:sp>
      <p:sp>
        <p:nvSpPr>
          <p:cNvPr name="Freeform 9" id="9"/>
          <p:cNvSpPr/>
          <p:nvPr/>
        </p:nvSpPr>
        <p:spPr>
          <a:xfrm flipH="false" flipV="false" rot="0">
            <a:off x="13650625" y="5628706"/>
            <a:ext cx="4637375" cy="2596064"/>
          </a:xfrm>
          <a:custGeom>
            <a:avLst/>
            <a:gdLst/>
            <a:ahLst/>
            <a:cxnLst/>
            <a:rect r="r" b="b" t="t" l="l"/>
            <a:pathLst>
              <a:path h="2596064" w="4637375">
                <a:moveTo>
                  <a:pt x="0" y="0"/>
                </a:moveTo>
                <a:lnTo>
                  <a:pt x="4637375" y="0"/>
                </a:lnTo>
                <a:lnTo>
                  <a:pt x="4637375" y="2596064"/>
                </a:lnTo>
                <a:lnTo>
                  <a:pt x="0" y="2596064"/>
                </a:lnTo>
                <a:lnTo>
                  <a:pt x="0" y="0"/>
                </a:lnTo>
                <a:close/>
              </a:path>
            </a:pathLst>
          </a:custGeom>
          <a:blipFill>
            <a:blip r:embed="rId11"/>
            <a:stretch>
              <a:fillRect l="-3137" t="-110004" r="-2230" b="0"/>
            </a:stretch>
          </a:blipFill>
        </p:spPr>
      </p:sp>
      <p:sp>
        <p:nvSpPr>
          <p:cNvPr name="Freeform 10" id="10"/>
          <p:cNvSpPr/>
          <p:nvPr/>
        </p:nvSpPr>
        <p:spPr>
          <a:xfrm flipH="false" flipV="false" rot="0">
            <a:off x="4757728" y="5671810"/>
            <a:ext cx="4288279" cy="2552960"/>
          </a:xfrm>
          <a:custGeom>
            <a:avLst/>
            <a:gdLst/>
            <a:ahLst/>
            <a:cxnLst/>
            <a:rect r="r" b="b" t="t" l="l"/>
            <a:pathLst>
              <a:path h="2552960" w="4288279">
                <a:moveTo>
                  <a:pt x="0" y="0"/>
                </a:moveTo>
                <a:lnTo>
                  <a:pt x="4288279" y="0"/>
                </a:lnTo>
                <a:lnTo>
                  <a:pt x="4288279" y="2552960"/>
                </a:lnTo>
                <a:lnTo>
                  <a:pt x="0" y="2552960"/>
                </a:lnTo>
                <a:lnTo>
                  <a:pt x="0" y="0"/>
                </a:lnTo>
                <a:close/>
              </a:path>
            </a:pathLst>
          </a:custGeom>
          <a:blipFill>
            <a:blip r:embed="rId12"/>
            <a:stretch>
              <a:fillRect l="-128663" t="-9369" r="-4462" b="-109369"/>
            </a:stretch>
          </a:blipFill>
        </p:spPr>
      </p:sp>
      <p:sp>
        <p:nvSpPr>
          <p:cNvPr name="TextBox 11" id="11"/>
          <p:cNvSpPr txBox="true"/>
          <p:nvPr/>
        </p:nvSpPr>
        <p:spPr>
          <a:xfrm rot="0">
            <a:off x="195648" y="229941"/>
            <a:ext cx="9496564" cy="1077671"/>
          </a:xfrm>
          <a:prstGeom prst="rect">
            <a:avLst/>
          </a:prstGeom>
        </p:spPr>
        <p:txBody>
          <a:bodyPr anchor="t" rtlCol="false" tIns="0" lIns="0" bIns="0" rIns="0">
            <a:spAutoFit/>
          </a:bodyPr>
          <a:lstStyle/>
          <a:p>
            <a:pPr algn="l">
              <a:lnSpc>
                <a:spcPts val="8850"/>
              </a:lnSpc>
            </a:pPr>
            <a:r>
              <a:rPr lang="en-US" sz="6322" spc="265" b="true">
                <a:solidFill>
                  <a:srgbClr val="FFFFFF"/>
                </a:solidFill>
                <a:latin typeface="TT Lakes Neue Extended Bold"/>
                <a:ea typeface="TT Lakes Neue Extended Bold"/>
                <a:cs typeface="TT Lakes Neue Extended Bold"/>
                <a:sym typeface="TT Lakes Neue Extended Bold"/>
              </a:rPr>
              <a:t>AVL Rotations</a:t>
            </a:r>
          </a:p>
        </p:txBody>
      </p:sp>
      <p:sp>
        <p:nvSpPr>
          <p:cNvPr name="TextBox 12" id="12"/>
          <p:cNvSpPr txBox="true"/>
          <p:nvPr/>
        </p:nvSpPr>
        <p:spPr>
          <a:xfrm rot="0">
            <a:off x="567576" y="1431961"/>
            <a:ext cx="3718438" cy="604521"/>
          </a:xfrm>
          <a:prstGeom prst="rect">
            <a:avLst/>
          </a:prstGeom>
        </p:spPr>
        <p:txBody>
          <a:bodyPr anchor="t" rtlCol="false" tIns="0" lIns="0" bIns="0" rIns="0">
            <a:spAutoFit/>
          </a:bodyPr>
          <a:lstStyle/>
          <a:p>
            <a:pPr algn="l">
              <a:lnSpc>
                <a:spcPts val="4479"/>
              </a:lnSpc>
            </a:pPr>
            <a:r>
              <a:rPr lang="en-US" sz="3199" b="true">
                <a:solidFill>
                  <a:srgbClr val="FFFFFF"/>
                </a:solidFill>
                <a:latin typeface="Arian Bold"/>
                <a:ea typeface="Arian Bold"/>
                <a:cs typeface="Arian Bold"/>
                <a:sym typeface="Arian Bold"/>
              </a:rPr>
              <a:t>LL Rotation</a:t>
            </a:r>
          </a:p>
        </p:txBody>
      </p:sp>
      <p:sp>
        <p:nvSpPr>
          <p:cNvPr name="TextBox 13" id="13"/>
          <p:cNvSpPr txBox="true"/>
          <p:nvPr/>
        </p:nvSpPr>
        <p:spPr>
          <a:xfrm rot="0">
            <a:off x="476329" y="2057772"/>
            <a:ext cx="4194464" cy="2315211"/>
          </a:xfrm>
          <a:prstGeom prst="rect">
            <a:avLst/>
          </a:prstGeom>
        </p:spPr>
        <p:txBody>
          <a:bodyPr anchor="t" rtlCol="false" tIns="0" lIns="0" bIns="0" rIns="0">
            <a:spAutoFit/>
          </a:bodyPr>
          <a:lstStyle/>
          <a:p>
            <a:pPr algn="l">
              <a:lnSpc>
                <a:spcPts val="3639"/>
              </a:lnSpc>
            </a:pPr>
            <a:r>
              <a:rPr lang="en-US" sz="2599">
                <a:solidFill>
                  <a:srgbClr val="FFFFFF"/>
                </a:solidFill>
                <a:latin typeface="Arian"/>
                <a:ea typeface="Arian"/>
                <a:cs typeface="Arian"/>
                <a:sym typeface="Arian"/>
              </a:rPr>
              <a:t>Occurs when a node is inserted into the left subtree of its left child. A single right rotation restores balance.</a:t>
            </a:r>
          </a:p>
        </p:txBody>
      </p:sp>
      <p:sp>
        <p:nvSpPr>
          <p:cNvPr name="TextBox 14" id="14"/>
          <p:cNvSpPr txBox="true"/>
          <p:nvPr/>
        </p:nvSpPr>
        <p:spPr>
          <a:xfrm rot="0">
            <a:off x="4857514" y="1358601"/>
            <a:ext cx="4013138" cy="604521"/>
          </a:xfrm>
          <a:prstGeom prst="rect">
            <a:avLst/>
          </a:prstGeom>
        </p:spPr>
        <p:txBody>
          <a:bodyPr anchor="t" rtlCol="false" tIns="0" lIns="0" bIns="0" rIns="0">
            <a:spAutoFit/>
          </a:bodyPr>
          <a:lstStyle/>
          <a:p>
            <a:pPr algn="l">
              <a:lnSpc>
                <a:spcPts val="4479"/>
              </a:lnSpc>
            </a:pPr>
            <a:r>
              <a:rPr lang="en-US" sz="3199" b="true">
                <a:solidFill>
                  <a:srgbClr val="FFFFFF"/>
                </a:solidFill>
                <a:latin typeface="Arian Bold"/>
                <a:ea typeface="Arian Bold"/>
                <a:cs typeface="Arian Bold"/>
                <a:sym typeface="Arian Bold"/>
              </a:rPr>
              <a:t>RR Rotation</a:t>
            </a:r>
          </a:p>
        </p:txBody>
      </p:sp>
      <p:sp>
        <p:nvSpPr>
          <p:cNvPr name="TextBox 15" id="15"/>
          <p:cNvSpPr txBox="true"/>
          <p:nvPr/>
        </p:nvSpPr>
        <p:spPr>
          <a:xfrm rot="0">
            <a:off x="4857514" y="1911052"/>
            <a:ext cx="4286486" cy="2315211"/>
          </a:xfrm>
          <a:prstGeom prst="rect">
            <a:avLst/>
          </a:prstGeom>
        </p:spPr>
        <p:txBody>
          <a:bodyPr anchor="t" rtlCol="false" tIns="0" lIns="0" bIns="0" rIns="0">
            <a:spAutoFit/>
          </a:bodyPr>
          <a:lstStyle/>
          <a:p>
            <a:pPr algn="l">
              <a:lnSpc>
                <a:spcPts val="3639"/>
              </a:lnSpc>
            </a:pPr>
            <a:r>
              <a:rPr lang="en-US" sz="2599">
                <a:solidFill>
                  <a:srgbClr val="FFFFFF"/>
                </a:solidFill>
                <a:latin typeface="Arian"/>
                <a:ea typeface="Arian"/>
                <a:cs typeface="Arian"/>
                <a:sym typeface="Arian"/>
              </a:rPr>
              <a:t>Occurs when a node is inserted into the right subtree of its right child. A single left rotation restores balance.</a:t>
            </a:r>
          </a:p>
        </p:txBody>
      </p:sp>
      <p:sp>
        <p:nvSpPr>
          <p:cNvPr name="TextBox 16" id="16"/>
          <p:cNvSpPr txBox="true"/>
          <p:nvPr/>
        </p:nvSpPr>
        <p:spPr>
          <a:xfrm rot="0">
            <a:off x="9444114" y="1432234"/>
            <a:ext cx="4083140" cy="604521"/>
          </a:xfrm>
          <a:prstGeom prst="rect">
            <a:avLst/>
          </a:prstGeom>
        </p:spPr>
        <p:txBody>
          <a:bodyPr anchor="t" rtlCol="false" tIns="0" lIns="0" bIns="0" rIns="0">
            <a:spAutoFit/>
          </a:bodyPr>
          <a:lstStyle/>
          <a:p>
            <a:pPr algn="l">
              <a:lnSpc>
                <a:spcPts val="4479"/>
              </a:lnSpc>
            </a:pPr>
            <a:r>
              <a:rPr lang="en-US" sz="3199" b="true">
                <a:solidFill>
                  <a:srgbClr val="FFFFFF"/>
                </a:solidFill>
                <a:latin typeface="Arian Bold"/>
                <a:ea typeface="Arian Bold"/>
                <a:cs typeface="Arian Bold"/>
                <a:sym typeface="Arian Bold"/>
              </a:rPr>
              <a:t>LR Rotation</a:t>
            </a:r>
          </a:p>
        </p:txBody>
      </p:sp>
      <p:sp>
        <p:nvSpPr>
          <p:cNvPr name="TextBox 17" id="17"/>
          <p:cNvSpPr txBox="true"/>
          <p:nvPr/>
        </p:nvSpPr>
        <p:spPr>
          <a:xfrm rot="0">
            <a:off x="9444114" y="1920577"/>
            <a:ext cx="4206512" cy="2651126"/>
          </a:xfrm>
          <a:prstGeom prst="rect">
            <a:avLst/>
          </a:prstGeom>
        </p:spPr>
        <p:txBody>
          <a:bodyPr anchor="t" rtlCol="false" tIns="0" lIns="0" bIns="0" rIns="0">
            <a:spAutoFit/>
          </a:bodyPr>
          <a:lstStyle/>
          <a:p>
            <a:pPr algn="l">
              <a:lnSpc>
                <a:spcPts val="3499"/>
              </a:lnSpc>
            </a:pPr>
            <a:r>
              <a:rPr lang="en-US" sz="2499">
                <a:solidFill>
                  <a:srgbClr val="FFFFFF"/>
                </a:solidFill>
                <a:latin typeface="Arian"/>
                <a:ea typeface="Arian"/>
                <a:cs typeface="Arian"/>
                <a:sym typeface="Arian"/>
              </a:rPr>
              <a:t>Occurs when a node is inserted into the right subtree of its left child. It requires a left rotation followed by a right rotation.</a:t>
            </a:r>
          </a:p>
        </p:txBody>
      </p:sp>
      <p:sp>
        <p:nvSpPr>
          <p:cNvPr name="TextBox 18" id="18"/>
          <p:cNvSpPr txBox="true"/>
          <p:nvPr/>
        </p:nvSpPr>
        <p:spPr>
          <a:xfrm rot="0">
            <a:off x="14023377" y="1465255"/>
            <a:ext cx="3579189" cy="604520"/>
          </a:xfrm>
          <a:prstGeom prst="rect">
            <a:avLst/>
          </a:prstGeom>
        </p:spPr>
        <p:txBody>
          <a:bodyPr anchor="t" rtlCol="false" tIns="0" lIns="0" bIns="0" rIns="0">
            <a:spAutoFit/>
          </a:bodyPr>
          <a:lstStyle/>
          <a:p>
            <a:pPr algn="l">
              <a:lnSpc>
                <a:spcPts val="4479"/>
              </a:lnSpc>
              <a:spcBef>
                <a:spcPct val="0"/>
              </a:spcBef>
            </a:pPr>
            <a:r>
              <a:rPr lang="en-US" b="true" sz="3199">
                <a:solidFill>
                  <a:srgbClr val="FFFFFF"/>
                </a:solidFill>
                <a:latin typeface="Arian Bold"/>
                <a:ea typeface="Arian Bold"/>
                <a:cs typeface="Arian Bold"/>
                <a:sym typeface="Arian Bold"/>
              </a:rPr>
              <a:t>RL Rotation</a:t>
            </a:r>
          </a:p>
        </p:txBody>
      </p:sp>
      <p:sp>
        <p:nvSpPr>
          <p:cNvPr name="TextBox 19" id="19"/>
          <p:cNvSpPr txBox="true"/>
          <p:nvPr/>
        </p:nvSpPr>
        <p:spPr>
          <a:xfrm rot="0">
            <a:off x="14023377" y="2019082"/>
            <a:ext cx="4029010" cy="2651125"/>
          </a:xfrm>
          <a:prstGeom prst="rect">
            <a:avLst/>
          </a:prstGeom>
        </p:spPr>
        <p:txBody>
          <a:bodyPr anchor="t" rtlCol="false" tIns="0" lIns="0" bIns="0" rIns="0">
            <a:spAutoFit/>
          </a:bodyPr>
          <a:lstStyle/>
          <a:p>
            <a:pPr algn="l">
              <a:lnSpc>
                <a:spcPts val="3499"/>
              </a:lnSpc>
              <a:spcBef>
                <a:spcPct val="0"/>
              </a:spcBef>
            </a:pPr>
            <a:r>
              <a:rPr lang="en-US" b="true" sz="2499">
                <a:solidFill>
                  <a:srgbClr val="FFFFFF"/>
                </a:solidFill>
                <a:latin typeface="Arian Bold"/>
                <a:ea typeface="Arian Bold"/>
                <a:cs typeface="Arian Bold"/>
                <a:sym typeface="Arian Bold"/>
              </a:rPr>
              <a:t>Occurs when a node is inserted into the left subtree of its right child. It requires a right rotation followed by a left rotation.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5819796" y="-2180399"/>
            <a:ext cx="9808535" cy="9808535"/>
          </a:xfrm>
          <a:custGeom>
            <a:avLst/>
            <a:gdLst/>
            <a:ahLst/>
            <a:cxnLst/>
            <a:rect r="r" b="b" t="t" l="l"/>
            <a:pathLst>
              <a:path h="9808535" w="9808535">
                <a:moveTo>
                  <a:pt x="0" y="0"/>
                </a:moveTo>
                <a:lnTo>
                  <a:pt x="9808535" y="0"/>
                </a:lnTo>
                <a:lnTo>
                  <a:pt x="9808535" y="9808535"/>
                </a:lnTo>
                <a:lnTo>
                  <a:pt x="0" y="9808535"/>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073168">
            <a:off x="7545162" y="942183"/>
            <a:ext cx="11610040" cy="8570320"/>
          </a:xfrm>
          <a:custGeom>
            <a:avLst/>
            <a:gdLst/>
            <a:ahLst/>
            <a:cxnLst/>
            <a:rect r="r" b="b" t="t" l="l"/>
            <a:pathLst>
              <a:path h="8570320" w="11610040">
                <a:moveTo>
                  <a:pt x="0" y="0"/>
                </a:moveTo>
                <a:lnTo>
                  <a:pt x="11610040" y="0"/>
                </a:lnTo>
                <a:lnTo>
                  <a:pt x="11610040" y="8570321"/>
                </a:lnTo>
                <a:lnTo>
                  <a:pt x="0" y="8570321"/>
                </a:lnTo>
                <a:lnTo>
                  <a:pt x="0" y="0"/>
                </a:lnTo>
                <a:close/>
              </a:path>
            </a:pathLst>
          </a:custGeom>
          <a:blipFill>
            <a:blip r:embed="rId4">
              <a:alphaModFix amt="32999"/>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83495" y="7832730"/>
            <a:ext cx="6009009" cy="6009009"/>
          </a:xfrm>
          <a:custGeom>
            <a:avLst/>
            <a:gdLst/>
            <a:ahLst/>
            <a:cxnLst/>
            <a:rect r="r" b="b" t="t" l="l"/>
            <a:pathLst>
              <a:path h="6009009" w="6009009">
                <a:moveTo>
                  <a:pt x="0" y="0"/>
                </a:moveTo>
                <a:lnTo>
                  <a:pt x="6009010" y="0"/>
                </a:lnTo>
                <a:lnTo>
                  <a:pt x="6009010" y="6009009"/>
                </a:lnTo>
                <a:lnTo>
                  <a:pt x="0" y="6009009"/>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Freeform 6" id="6"/>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9704899" y="4352056"/>
            <a:ext cx="8183109" cy="4571033"/>
          </a:xfrm>
          <a:custGeom>
            <a:avLst/>
            <a:gdLst/>
            <a:ahLst/>
            <a:cxnLst/>
            <a:rect r="r" b="b" t="t" l="l"/>
            <a:pathLst>
              <a:path h="4571033" w="8183109">
                <a:moveTo>
                  <a:pt x="0" y="0"/>
                </a:moveTo>
                <a:lnTo>
                  <a:pt x="8183108" y="0"/>
                </a:lnTo>
                <a:lnTo>
                  <a:pt x="8183108" y="4571033"/>
                </a:lnTo>
                <a:lnTo>
                  <a:pt x="0" y="4571033"/>
                </a:lnTo>
                <a:lnTo>
                  <a:pt x="0" y="0"/>
                </a:lnTo>
                <a:close/>
              </a:path>
            </a:pathLst>
          </a:custGeom>
          <a:blipFill>
            <a:blip r:embed="rId10"/>
            <a:stretch>
              <a:fillRect l="0" t="0" r="0" b="0"/>
            </a:stretch>
          </a:blipFill>
        </p:spPr>
      </p:sp>
      <p:sp>
        <p:nvSpPr>
          <p:cNvPr name="TextBox 8" id="8"/>
          <p:cNvSpPr txBox="true"/>
          <p:nvPr/>
        </p:nvSpPr>
        <p:spPr>
          <a:xfrm rot="0">
            <a:off x="1686872" y="1963990"/>
            <a:ext cx="10372939" cy="1367357"/>
          </a:xfrm>
          <a:prstGeom prst="rect">
            <a:avLst/>
          </a:prstGeom>
        </p:spPr>
        <p:txBody>
          <a:bodyPr anchor="t" rtlCol="false" tIns="0" lIns="0" bIns="0" rIns="0">
            <a:spAutoFit/>
          </a:bodyPr>
          <a:lstStyle/>
          <a:p>
            <a:pPr algn="l">
              <a:lnSpc>
                <a:spcPts val="11199"/>
              </a:lnSpc>
            </a:pPr>
            <a:r>
              <a:rPr lang="en-US" sz="7999" spc="335" b="true">
                <a:solidFill>
                  <a:srgbClr val="FFFFFF"/>
                </a:solidFill>
                <a:latin typeface="TT Lakes Neue Extended Bold"/>
                <a:ea typeface="TT Lakes Neue Extended Bold"/>
                <a:cs typeface="TT Lakes Neue Extended Bold"/>
                <a:sym typeface="TT Lakes Neue Extended Bold"/>
              </a:rPr>
              <a:t>AVL Insertion</a:t>
            </a:r>
          </a:p>
        </p:txBody>
      </p:sp>
      <p:sp>
        <p:nvSpPr>
          <p:cNvPr name="TextBox 9" id="9"/>
          <p:cNvSpPr txBox="true"/>
          <p:nvPr/>
        </p:nvSpPr>
        <p:spPr>
          <a:xfrm rot="0">
            <a:off x="1839250" y="3435984"/>
            <a:ext cx="6819786" cy="916071"/>
          </a:xfrm>
          <a:prstGeom prst="rect">
            <a:avLst/>
          </a:prstGeom>
        </p:spPr>
        <p:txBody>
          <a:bodyPr anchor="t" rtlCol="false" tIns="0" lIns="0" bIns="0" rIns="0">
            <a:spAutoFit/>
          </a:bodyPr>
          <a:lstStyle/>
          <a:p>
            <a:pPr algn="l">
              <a:lnSpc>
                <a:spcPts val="7518"/>
              </a:lnSpc>
            </a:pPr>
            <a:r>
              <a:rPr lang="en-US" sz="5370" spc="225">
                <a:solidFill>
                  <a:srgbClr val="FFFFFF"/>
                </a:solidFill>
                <a:latin typeface="TT Lakes Neue Extended"/>
                <a:ea typeface="TT Lakes Neue Extended"/>
                <a:cs typeface="TT Lakes Neue Extended"/>
                <a:sym typeface="TT Lakes Neue Extended"/>
              </a:rPr>
              <a:t>Process</a:t>
            </a:r>
          </a:p>
        </p:txBody>
      </p:sp>
      <p:sp>
        <p:nvSpPr>
          <p:cNvPr name="TextBox 10" id="10"/>
          <p:cNvSpPr txBox="true"/>
          <p:nvPr/>
        </p:nvSpPr>
        <p:spPr>
          <a:xfrm rot="0">
            <a:off x="1839250" y="5067300"/>
            <a:ext cx="7706325" cy="1582420"/>
          </a:xfrm>
          <a:prstGeom prst="rect">
            <a:avLst/>
          </a:prstGeom>
        </p:spPr>
        <p:txBody>
          <a:bodyPr anchor="t" rtlCol="false" tIns="0" lIns="0" bIns="0" rIns="0">
            <a:spAutoFit/>
          </a:bodyPr>
          <a:lstStyle/>
          <a:p>
            <a:pPr algn="l">
              <a:lnSpc>
                <a:spcPts val="3079"/>
              </a:lnSpc>
            </a:pPr>
            <a:r>
              <a:rPr lang="en-US" sz="2199">
                <a:solidFill>
                  <a:srgbClr val="FFFFFF"/>
                </a:solidFill>
                <a:latin typeface="Arian"/>
                <a:ea typeface="Arian"/>
                <a:cs typeface="Arian"/>
                <a:sym typeface="Arian"/>
              </a:rPr>
              <a:t>Start with the normal Binary Search Tree insertion process. Insert the new key according to the BST property, then move back toward the root and check the balance factor of each node.</a:t>
            </a:r>
          </a:p>
        </p:txBody>
      </p:sp>
      <p:sp>
        <p:nvSpPr>
          <p:cNvPr name="TextBox 11" id="11"/>
          <p:cNvSpPr txBox="true"/>
          <p:nvPr/>
        </p:nvSpPr>
        <p:spPr>
          <a:xfrm rot="0">
            <a:off x="1839250" y="6978650"/>
            <a:ext cx="7706325" cy="1637031"/>
          </a:xfrm>
          <a:prstGeom prst="rect">
            <a:avLst/>
          </a:prstGeom>
        </p:spPr>
        <p:txBody>
          <a:bodyPr anchor="t" rtlCol="false" tIns="0" lIns="0" bIns="0" rIns="0">
            <a:spAutoFit/>
          </a:bodyPr>
          <a:lstStyle/>
          <a:p>
            <a:pPr algn="l">
              <a:lnSpc>
                <a:spcPts val="3219"/>
              </a:lnSpc>
            </a:pPr>
            <a:r>
              <a:rPr lang="en-US" sz="2299">
                <a:solidFill>
                  <a:srgbClr val="FFFFFF"/>
                </a:solidFill>
                <a:latin typeface="Arian"/>
                <a:ea typeface="Arian"/>
                <a:cs typeface="Arian"/>
                <a:sym typeface="Arian"/>
              </a:rPr>
              <a:t>If the balance factor becomes less than −1 or greater than +1, the tree is unbalanced. An appropriate rotation—LL, RR, LR, or RL—is then performed to restore balance.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5819796" y="-2180399"/>
            <a:ext cx="9808535" cy="9808535"/>
          </a:xfrm>
          <a:custGeom>
            <a:avLst/>
            <a:gdLst/>
            <a:ahLst/>
            <a:cxnLst/>
            <a:rect r="r" b="b" t="t" l="l"/>
            <a:pathLst>
              <a:path h="9808535" w="9808535">
                <a:moveTo>
                  <a:pt x="0" y="0"/>
                </a:moveTo>
                <a:lnTo>
                  <a:pt x="9808535" y="0"/>
                </a:lnTo>
                <a:lnTo>
                  <a:pt x="9808535" y="9808535"/>
                </a:lnTo>
                <a:lnTo>
                  <a:pt x="0" y="9808535"/>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7589907">
            <a:off x="7837265" y="-3256460"/>
            <a:ext cx="11610040" cy="8570320"/>
          </a:xfrm>
          <a:custGeom>
            <a:avLst/>
            <a:gdLst/>
            <a:ahLst/>
            <a:cxnLst/>
            <a:rect r="r" b="b" t="t" l="l"/>
            <a:pathLst>
              <a:path h="8570320" w="11610040">
                <a:moveTo>
                  <a:pt x="0" y="0"/>
                </a:moveTo>
                <a:lnTo>
                  <a:pt x="11610040" y="0"/>
                </a:lnTo>
                <a:lnTo>
                  <a:pt x="11610040" y="8570320"/>
                </a:lnTo>
                <a:lnTo>
                  <a:pt x="0" y="8570320"/>
                </a:lnTo>
                <a:lnTo>
                  <a:pt x="0" y="0"/>
                </a:lnTo>
                <a:close/>
              </a:path>
            </a:pathLst>
          </a:custGeom>
          <a:blipFill>
            <a:blip r:embed="rId4">
              <a:alphaModFix amt="32999"/>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283495" y="7832730"/>
            <a:ext cx="6009009" cy="6009009"/>
          </a:xfrm>
          <a:custGeom>
            <a:avLst/>
            <a:gdLst/>
            <a:ahLst/>
            <a:cxnLst/>
            <a:rect r="r" b="b" t="t" l="l"/>
            <a:pathLst>
              <a:path h="6009009" w="6009009">
                <a:moveTo>
                  <a:pt x="0" y="0"/>
                </a:moveTo>
                <a:lnTo>
                  <a:pt x="6009010" y="0"/>
                </a:lnTo>
                <a:lnTo>
                  <a:pt x="6009010" y="6009009"/>
                </a:lnTo>
                <a:lnTo>
                  <a:pt x="0" y="6009009"/>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Freeform 6" id="6"/>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0" y="7103362"/>
            <a:ext cx="18307273" cy="1437420"/>
          </a:xfrm>
          <a:custGeom>
            <a:avLst/>
            <a:gdLst/>
            <a:ahLst/>
            <a:cxnLst/>
            <a:rect r="r" b="b" t="t" l="l"/>
            <a:pathLst>
              <a:path h="1437420" w="18307273">
                <a:moveTo>
                  <a:pt x="0" y="0"/>
                </a:moveTo>
                <a:lnTo>
                  <a:pt x="18307273" y="0"/>
                </a:lnTo>
                <a:lnTo>
                  <a:pt x="18307273" y="1437420"/>
                </a:lnTo>
                <a:lnTo>
                  <a:pt x="0" y="1437420"/>
                </a:lnTo>
                <a:lnTo>
                  <a:pt x="0" y="0"/>
                </a:lnTo>
                <a:close/>
              </a:path>
            </a:pathLst>
          </a:custGeom>
          <a:blipFill>
            <a:blip r:embed="rId10"/>
            <a:stretch>
              <a:fillRect l="0" t="-417213" r="0" b="-199198"/>
            </a:stretch>
          </a:blipFill>
        </p:spPr>
      </p:sp>
      <p:sp>
        <p:nvSpPr>
          <p:cNvPr name="TextBox 8" id="8"/>
          <p:cNvSpPr txBox="true"/>
          <p:nvPr/>
        </p:nvSpPr>
        <p:spPr>
          <a:xfrm rot="0">
            <a:off x="1028700" y="9144877"/>
            <a:ext cx="1621100" cy="352658"/>
          </a:xfrm>
          <a:prstGeom prst="rect">
            <a:avLst/>
          </a:prstGeom>
        </p:spPr>
        <p:txBody>
          <a:bodyPr anchor="t" rtlCol="false" tIns="0" lIns="0" bIns="0" rIns="0">
            <a:spAutoFit/>
          </a:bodyPr>
          <a:lstStyle/>
          <a:p>
            <a:pPr algn="l">
              <a:lnSpc>
                <a:spcPts val="2612"/>
              </a:lnSpc>
            </a:pPr>
            <a:r>
              <a:rPr lang="en-US" sz="1865" b="true">
                <a:solidFill>
                  <a:srgbClr val="FFFFFF"/>
                </a:solidFill>
                <a:latin typeface="Arian Bold"/>
                <a:ea typeface="Arian Bold"/>
                <a:cs typeface="Arian Bold"/>
                <a:sym typeface="Arian Bold"/>
              </a:rPr>
              <a:t>Page 08</a:t>
            </a:r>
          </a:p>
        </p:txBody>
      </p:sp>
      <p:sp>
        <p:nvSpPr>
          <p:cNvPr name="TextBox 9" id="9"/>
          <p:cNvSpPr txBox="true"/>
          <p:nvPr/>
        </p:nvSpPr>
        <p:spPr>
          <a:xfrm rot="0">
            <a:off x="3957531" y="2124560"/>
            <a:ext cx="10372939" cy="1285873"/>
          </a:xfrm>
          <a:prstGeom prst="rect">
            <a:avLst/>
          </a:prstGeom>
        </p:spPr>
        <p:txBody>
          <a:bodyPr anchor="t" rtlCol="false" tIns="0" lIns="0" bIns="0" rIns="0">
            <a:spAutoFit/>
          </a:bodyPr>
          <a:lstStyle/>
          <a:p>
            <a:pPr algn="ctr">
              <a:lnSpc>
                <a:spcPts val="10500"/>
              </a:lnSpc>
            </a:pPr>
            <a:r>
              <a:rPr lang="en-US" b="true" sz="7500" spc="315">
                <a:solidFill>
                  <a:srgbClr val="FFFFFF"/>
                </a:solidFill>
                <a:latin typeface="TT Lakes Neue Extended Bold"/>
                <a:ea typeface="TT Lakes Neue Extended Bold"/>
                <a:cs typeface="TT Lakes Neue Extended Bold"/>
                <a:sym typeface="TT Lakes Neue Extended Bold"/>
              </a:rPr>
              <a:t>Searching in AVL</a:t>
            </a:r>
          </a:p>
        </p:txBody>
      </p:sp>
      <p:sp>
        <p:nvSpPr>
          <p:cNvPr name="TextBox 10" id="10"/>
          <p:cNvSpPr txBox="true"/>
          <p:nvPr/>
        </p:nvSpPr>
        <p:spPr>
          <a:xfrm rot="0">
            <a:off x="1425593" y="4535170"/>
            <a:ext cx="4270653" cy="2361565"/>
          </a:xfrm>
          <a:prstGeom prst="rect">
            <a:avLst/>
          </a:prstGeom>
        </p:spPr>
        <p:txBody>
          <a:bodyPr anchor="t" rtlCol="false" tIns="0" lIns="0" bIns="0" rIns="0">
            <a:spAutoFit/>
          </a:bodyPr>
          <a:lstStyle/>
          <a:p>
            <a:pPr algn="l">
              <a:lnSpc>
                <a:spcPts val="2659"/>
              </a:lnSpc>
            </a:pPr>
            <a:r>
              <a:rPr lang="en-US" sz="1899">
                <a:solidFill>
                  <a:srgbClr val="FFFFFF"/>
                </a:solidFill>
                <a:latin typeface="Arian"/>
                <a:ea typeface="Arian"/>
                <a:cs typeface="Arian"/>
                <a:sym typeface="Arian"/>
              </a:rPr>
              <a:t>Searching in an AVL tree follows the same process as a Binary Search Tree. Start at the root and compare the target value with the current node. Move left if the target is smaller and right if it is larger.</a:t>
            </a:r>
          </a:p>
        </p:txBody>
      </p:sp>
      <p:sp>
        <p:nvSpPr>
          <p:cNvPr name="TextBox 11" id="11"/>
          <p:cNvSpPr txBox="true"/>
          <p:nvPr/>
        </p:nvSpPr>
        <p:spPr>
          <a:xfrm rot="0">
            <a:off x="7008673" y="4535170"/>
            <a:ext cx="4270653" cy="2139950"/>
          </a:xfrm>
          <a:prstGeom prst="rect">
            <a:avLst/>
          </a:prstGeom>
        </p:spPr>
        <p:txBody>
          <a:bodyPr anchor="t" rtlCol="false" tIns="0" lIns="0" bIns="0" rIns="0">
            <a:spAutoFit/>
          </a:bodyPr>
          <a:lstStyle/>
          <a:p>
            <a:pPr algn="l">
              <a:lnSpc>
                <a:spcPts val="2799"/>
              </a:lnSpc>
            </a:pPr>
            <a:r>
              <a:rPr lang="en-US" sz="1999">
                <a:solidFill>
                  <a:srgbClr val="FFFFFF"/>
                </a:solidFill>
                <a:latin typeface="Arian"/>
                <a:ea typeface="Arian"/>
                <a:cs typeface="Arian"/>
                <a:sym typeface="Arian"/>
              </a:rPr>
              <a:t>Because AVL trees remain balanced, their height stays logarithmic. This means the search path remains short even when the number of stored elements becomes large.</a:t>
            </a:r>
          </a:p>
        </p:txBody>
      </p:sp>
      <p:sp>
        <p:nvSpPr>
          <p:cNvPr name="TextBox 12" id="12"/>
          <p:cNvSpPr txBox="true"/>
          <p:nvPr/>
        </p:nvSpPr>
        <p:spPr>
          <a:xfrm rot="0">
            <a:off x="12593777" y="4535170"/>
            <a:ext cx="4270653" cy="2139950"/>
          </a:xfrm>
          <a:prstGeom prst="rect">
            <a:avLst/>
          </a:prstGeom>
        </p:spPr>
        <p:txBody>
          <a:bodyPr anchor="t" rtlCol="false" tIns="0" lIns="0" bIns="0" rIns="0">
            <a:spAutoFit/>
          </a:bodyPr>
          <a:lstStyle/>
          <a:p>
            <a:pPr algn="l">
              <a:lnSpc>
                <a:spcPts val="2799"/>
              </a:lnSpc>
            </a:pPr>
            <a:r>
              <a:rPr lang="en-US" sz="1999">
                <a:solidFill>
                  <a:srgbClr val="FFFFFF"/>
                </a:solidFill>
                <a:latin typeface="Arian"/>
                <a:ea typeface="Arian"/>
                <a:cs typeface="Arian"/>
                <a:sym typeface="Arian"/>
              </a:rPr>
              <a:t>The search operation takes O(log n) time in the worst case. This predictable performance makes AVL trees useful when fast and consistent searching is important.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2454199" y="-154904"/>
            <a:ext cx="11724278" cy="11724278"/>
          </a:xfrm>
          <a:custGeom>
            <a:avLst/>
            <a:gdLst/>
            <a:ahLst/>
            <a:cxnLst/>
            <a:rect r="r" b="b" t="t" l="l"/>
            <a:pathLst>
              <a:path h="11724278" w="11724278">
                <a:moveTo>
                  <a:pt x="0" y="0"/>
                </a:moveTo>
                <a:lnTo>
                  <a:pt x="11724278" y="0"/>
                </a:lnTo>
                <a:lnTo>
                  <a:pt x="11724278" y="11724278"/>
                </a:lnTo>
                <a:lnTo>
                  <a:pt x="0" y="11724278"/>
                </a:lnTo>
                <a:lnTo>
                  <a:pt x="0" y="0"/>
                </a:lnTo>
                <a:close/>
              </a:path>
            </a:pathLst>
          </a:custGeom>
          <a:blipFill>
            <a:blip r:embed="rId2">
              <a:alphaModFix amt="44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5283495" y="7832730"/>
            <a:ext cx="6009009" cy="6009009"/>
          </a:xfrm>
          <a:custGeom>
            <a:avLst/>
            <a:gdLst/>
            <a:ahLst/>
            <a:cxnLst/>
            <a:rect r="r" b="b" t="t" l="l"/>
            <a:pathLst>
              <a:path h="6009009" w="6009009">
                <a:moveTo>
                  <a:pt x="0" y="0"/>
                </a:moveTo>
                <a:lnTo>
                  <a:pt x="6009010" y="0"/>
                </a:lnTo>
                <a:lnTo>
                  <a:pt x="6009010" y="6009009"/>
                </a:lnTo>
                <a:lnTo>
                  <a:pt x="0" y="6009009"/>
                </a:lnTo>
                <a:lnTo>
                  <a:pt x="0" y="0"/>
                </a:lnTo>
                <a:close/>
              </a:path>
            </a:pathLst>
          </a:custGeom>
          <a:blipFill>
            <a:blip r:embed="rId4">
              <a:alphaModFix amt="5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875874">
            <a:off x="8610008" y="-2487360"/>
            <a:ext cx="8209501" cy="6060105"/>
          </a:xfrm>
          <a:custGeom>
            <a:avLst/>
            <a:gdLst/>
            <a:ahLst/>
            <a:cxnLst/>
            <a:rect r="r" b="b" t="t" l="l"/>
            <a:pathLst>
              <a:path h="6060105" w="8209501">
                <a:moveTo>
                  <a:pt x="0" y="0"/>
                </a:moveTo>
                <a:lnTo>
                  <a:pt x="8209502" y="0"/>
                </a:lnTo>
                <a:lnTo>
                  <a:pt x="8209502" y="6060104"/>
                </a:lnTo>
                <a:lnTo>
                  <a:pt x="0" y="6060104"/>
                </a:lnTo>
                <a:lnTo>
                  <a:pt x="0" y="0"/>
                </a:lnTo>
                <a:close/>
              </a:path>
            </a:pathLst>
          </a:custGeom>
          <a:blipFill>
            <a:blip r:embed="rId6">
              <a:alphaModFix amt="32999"/>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Freeform 6" id="6"/>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583029" y="2722662"/>
            <a:ext cx="8265058" cy="5235102"/>
          </a:xfrm>
          <a:custGeom>
            <a:avLst/>
            <a:gdLst/>
            <a:ahLst/>
            <a:cxnLst/>
            <a:rect r="r" b="b" t="t" l="l"/>
            <a:pathLst>
              <a:path h="5235102" w="8265058">
                <a:moveTo>
                  <a:pt x="0" y="0"/>
                </a:moveTo>
                <a:lnTo>
                  <a:pt x="8265058" y="0"/>
                </a:lnTo>
                <a:lnTo>
                  <a:pt x="8265058" y="5235101"/>
                </a:lnTo>
                <a:lnTo>
                  <a:pt x="0" y="5235101"/>
                </a:lnTo>
                <a:lnTo>
                  <a:pt x="0" y="0"/>
                </a:lnTo>
                <a:close/>
              </a:path>
            </a:pathLst>
          </a:custGeom>
          <a:blipFill>
            <a:blip r:embed="rId10"/>
            <a:stretch>
              <a:fillRect l="-7387" t="0" r="-6004" b="0"/>
            </a:stretch>
          </a:blipFill>
        </p:spPr>
      </p:sp>
      <p:sp>
        <p:nvSpPr>
          <p:cNvPr name="TextBox 8" id="8"/>
          <p:cNvSpPr txBox="true"/>
          <p:nvPr/>
        </p:nvSpPr>
        <p:spPr>
          <a:xfrm rot="0">
            <a:off x="9745570" y="2339099"/>
            <a:ext cx="7896486" cy="995677"/>
          </a:xfrm>
          <a:prstGeom prst="rect">
            <a:avLst/>
          </a:prstGeom>
        </p:spPr>
        <p:txBody>
          <a:bodyPr anchor="t" rtlCol="false" tIns="0" lIns="0" bIns="0" rIns="0">
            <a:spAutoFit/>
          </a:bodyPr>
          <a:lstStyle/>
          <a:p>
            <a:pPr algn="l">
              <a:lnSpc>
                <a:spcPts val="8120"/>
              </a:lnSpc>
            </a:pPr>
            <a:r>
              <a:rPr lang="en-US" sz="5800" spc="243" b="true">
                <a:solidFill>
                  <a:srgbClr val="FFFFFF"/>
                </a:solidFill>
                <a:latin typeface="TT Lakes Neue Extended Bold"/>
                <a:ea typeface="TT Lakes Neue Extended Bold"/>
                <a:cs typeface="TT Lakes Neue Extended Bold"/>
                <a:sym typeface="TT Lakes Neue Extended Bold"/>
              </a:rPr>
              <a:t>Time Complexity</a:t>
            </a:r>
          </a:p>
        </p:txBody>
      </p:sp>
      <p:sp>
        <p:nvSpPr>
          <p:cNvPr name="TextBox 9" id="9"/>
          <p:cNvSpPr txBox="true"/>
          <p:nvPr/>
        </p:nvSpPr>
        <p:spPr>
          <a:xfrm rot="0">
            <a:off x="9878059" y="3484961"/>
            <a:ext cx="6819786" cy="861817"/>
          </a:xfrm>
          <a:prstGeom prst="rect">
            <a:avLst/>
          </a:prstGeom>
        </p:spPr>
        <p:txBody>
          <a:bodyPr anchor="t" rtlCol="false" tIns="0" lIns="0" bIns="0" rIns="0">
            <a:spAutoFit/>
          </a:bodyPr>
          <a:lstStyle/>
          <a:p>
            <a:pPr algn="l">
              <a:lnSpc>
                <a:spcPts val="7098"/>
              </a:lnSpc>
            </a:pPr>
            <a:r>
              <a:rPr lang="en-US" sz="5070" spc="212">
                <a:solidFill>
                  <a:srgbClr val="FFFFFF"/>
                </a:solidFill>
                <a:latin typeface="TT Lakes Neue Extended"/>
                <a:ea typeface="TT Lakes Neue Extended"/>
                <a:cs typeface="TT Lakes Neue Extended"/>
                <a:sym typeface="TT Lakes Neue Extended"/>
              </a:rPr>
              <a:t>of AVL Trees</a:t>
            </a:r>
          </a:p>
        </p:txBody>
      </p:sp>
      <p:sp>
        <p:nvSpPr>
          <p:cNvPr name="TextBox 10" id="10"/>
          <p:cNvSpPr txBox="true"/>
          <p:nvPr/>
        </p:nvSpPr>
        <p:spPr>
          <a:xfrm rot="0">
            <a:off x="9940693" y="4606458"/>
            <a:ext cx="6948286" cy="3014981"/>
          </a:xfrm>
          <a:prstGeom prst="rect">
            <a:avLst/>
          </a:prstGeom>
        </p:spPr>
        <p:txBody>
          <a:bodyPr anchor="t" rtlCol="false" tIns="0" lIns="0" bIns="0" rIns="0">
            <a:spAutoFit/>
          </a:bodyPr>
          <a:lstStyle/>
          <a:p>
            <a:pPr algn="l">
              <a:lnSpc>
                <a:spcPts val="3919"/>
              </a:lnSpc>
            </a:pPr>
            <a:r>
              <a:rPr lang="en-US" sz="2799">
                <a:solidFill>
                  <a:srgbClr val="FFFFFF"/>
                </a:solidFill>
                <a:latin typeface="Arian"/>
                <a:ea typeface="Arian"/>
                <a:cs typeface="Arian"/>
                <a:sym typeface="Arian"/>
              </a:rPr>
              <a:t>AVL trees maintain a height of O(log n), providing efficient performance for major operations.</a:t>
            </a:r>
          </a:p>
          <a:p>
            <a:pPr algn="l" marL="604513" indent="-302256" lvl="1">
              <a:lnSpc>
                <a:spcPts val="3919"/>
              </a:lnSpc>
              <a:buFont typeface="Arial"/>
              <a:buChar char="•"/>
            </a:pPr>
            <a:r>
              <a:rPr lang="en-US" sz="2799">
                <a:solidFill>
                  <a:srgbClr val="FFFFFF"/>
                </a:solidFill>
                <a:latin typeface="Arian"/>
                <a:ea typeface="Arian"/>
                <a:cs typeface="Arian"/>
                <a:sym typeface="Arian"/>
              </a:rPr>
              <a:t>Search: O(log n)</a:t>
            </a:r>
          </a:p>
          <a:p>
            <a:pPr algn="l" marL="604513" indent="-302256" lvl="1">
              <a:lnSpc>
                <a:spcPts val="3919"/>
              </a:lnSpc>
              <a:buFont typeface="Arial"/>
              <a:buChar char="•"/>
            </a:pPr>
            <a:r>
              <a:rPr lang="en-US" sz="2799">
                <a:solidFill>
                  <a:srgbClr val="FFFFFF"/>
                </a:solidFill>
                <a:latin typeface="Arian"/>
                <a:ea typeface="Arian"/>
                <a:cs typeface="Arian"/>
                <a:sym typeface="Arian"/>
              </a:rPr>
              <a:t>Insertion: O(log n)</a:t>
            </a:r>
          </a:p>
          <a:p>
            <a:pPr algn="l" marL="604513" indent="-302256" lvl="1">
              <a:lnSpc>
                <a:spcPts val="3919"/>
              </a:lnSpc>
              <a:buFont typeface="Arial"/>
              <a:buChar char="•"/>
            </a:pPr>
            <a:r>
              <a:rPr lang="en-US" sz="2799">
                <a:solidFill>
                  <a:srgbClr val="FFFFFF"/>
                </a:solidFill>
                <a:latin typeface="Arian"/>
                <a:ea typeface="Arian"/>
                <a:cs typeface="Arian"/>
                <a:sym typeface="Arian"/>
              </a:rPr>
              <a:t>Deletion: O(log n)</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743786">
            <a:off x="-4104751" y="-1210849"/>
            <a:ext cx="8209501" cy="6060105"/>
          </a:xfrm>
          <a:custGeom>
            <a:avLst/>
            <a:gdLst/>
            <a:ahLst/>
            <a:cxnLst/>
            <a:rect r="r" b="b" t="t" l="l"/>
            <a:pathLst>
              <a:path h="6060105" w="8209501">
                <a:moveTo>
                  <a:pt x="0" y="0"/>
                </a:moveTo>
                <a:lnTo>
                  <a:pt x="8209502" y="0"/>
                </a:lnTo>
                <a:lnTo>
                  <a:pt x="8209502" y="6060104"/>
                </a:lnTo>
                <a:lnTo>
                  <a:pt x="0" y="6060104"/>
                </a:lnTo>
                <a:lnTo>
                  <a:pt x="0" y="0"/>
                </a:lnTo>
                <a:close/>
              </a:path>
            </a:pathLst>
          </a:custGeom>
          <a:blipFill>
            <a:blip r:embed="rId2">
              <a:alphaModFix amt="48000"/>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4659526" y="7438508"/>
            <a:ext cx="9808535" cy="9808535"/>
          </a:xfrm>
          <a:custGeom>
            <a:avLst/>
            <a:gdLst/>
            <a:ahLst/>
            <a:cxnLst/>
            <a:rect r="r" b="b" t="t" l="l"/>
            <a:pathLst>
              <a:path h="9808535" w="9808535">
                <a:moveTo>
                  <a:pt x="0" y="0"/>
                </a:moveTo>
                <a:lnTo>
                  <a:pt x="9808535" y="0"/>
                </a:lnTo>
                <a:lnTo>
                  <a:pt x="9808535" y="9808535"/>
                </a:lnTo>
                <a:lnTo>
                  <a:pt x="0" y="9808535"/>
                </a:lnTo>
                <a:lnTo>
                  <a:pt x="0" y="0"/>
                </a:lnTo>
                <a:close/>
              </a:path>
            </a:pathLst>
          </a:custGeom>
          <a:blipFill>
            <a:blip r:embed="rId4">
              <a:alphaModFix amt="64000"/>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5544577" y="-3139707"/>
            <a:ext cx="6009009" cy="6009009"/>
          </a:xfrm>
          <a:custGeom>
            <a:avLst/>
            <a:gdLst/>
            <a:ahLst/>
            <a:cxnLst/>
            <a:rect r="r" b="b" t="t" l="l"/>
            <a:pathLst>
              <a:path h="6009009" w="6009009">
                <a:moveTo>
                  <a:pt x="0" y="0"/>
                </a:moveTo>
                <a:lnTo>
                  <a:pt x="6009009" y="0"/>
                </a:lnTo>
                <a:lnTo>
                  <a:pt x="6009009" y="6009009"/>
                </a:lnTo>
                <a:lnTo>
                  <a:pt x="0" y="6009009"/>
                </a:lnTo>
                <a:lnTo>
                  <a:pt x="0" y="0"/>
                </a:lnTo>
                <a:close/>
              </a:path>
            </a:pathLst>
          </a:custGeom>
          <a:blipFill>
            <a:blip r:embed="rId6">
              <a:alphaModFix amt="54000"/>
              <a:extLst>
                <a:ext uri="{96DAC541-7B7A-43D3-8B79-37D633B846F1}">
                  <asvg:svgBlip xmlns:asvg="http://schemas.microsoft.com/office/drawing/2016/SVG/main" r:embed="rId7"/>
                </a:ext>
              </a:extLst>
            </a:blip>
            <a:stretch>
              <a:fillRect l="0" t="0" r="0" b="0"/>
            </a:stretch>
          </a:blipFill>
        </p:spPr>
      </p:sp>
      <p:sp>
        <p:nvSpPr>
          <p:cNvPr name="AutoShape 5" id="5"/>
          <p:cNvSpPr/>
          <p:nvPr/>
        </p:nvSpPr>
        <p:spPr>
          <a:xfrm>
            <a:off x="-535547" y="1396701"/>
            <a:ext cx="19996945" cy="0"/>
          </a:xfrm>
          <a:prstGeom prst="line">
            <a:avLst/>
          </a:prstGeom>
          <a:ln cap="flat" w="19050">
            <a:gradFill>
              <a:gsLst>
                <a:gs pos="0">
                  <a:srgbClr val="006CCD">
                    <a:alpha val="0"/>
                  </a:srgbClr>
                </a:gs>
                <a:gs pos="50000">
                  <a:srgbClr val="FEFEFE">
                    <a:alpha val="100000"/>
                  </a:srgbClr>
                </a:gs>
                <a:gs pos="100000">
                  <a:srgbClr val="F5AEFF">
                    <a:alpha val="0"/>
                  </a:srgbClr>
                </a:gs>
              </a:gsLst>
              <a:lin ang="0"/>
            </a:gradFill>
            <a:prstDash val="solid"/>
            <a:headEnd type="none" len="sm" w="sm"/>
            <a:tailEnd type="none" len="sm" w="sm"/>
          </a:ln>
        </p:spPr>
      </p:sp>
      <p:sp>
        <p:nvSpPr>
          <p:cNvPr name="Freeform 6" id="6"/>
          <p:cNvSpPr/>
          <p:nvPr/>
        </p:nvSpPr>
        <p:spPr>
          <a:xfrm flipH="false" flipV="false" rot="0">
            <a:off x="16888980" y="9212757"/>
            <a:ext cx="303013" cy="293096"/>
          </a:xfrm>
          <a:custGeom>
            <a:avLst/>
            <a:gdLst/>
            <a:ahLst/>
            <a:cxnLst/>
            <a:rect r="r" b="b" t="t" l="l"/>
            <a:pathLst>
              <a:path h="293096" w="303013">
                <a:moveTo>
                  <a:pt x="0" y="0"/>
                </a:moveTo>
                <a:lnTo>
                  <a:pt x="303012" y="0"/>
                </a:lnTo>
                <a:lnTo>
                  <a:pt x="303012" y="293096"/>
                </a:lnTo>
                <a:lnTo>
                  <a:pt x="0" y="293096"/>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271105" y="2478421"/>
            <a:ext cx="11941084" cy="6670215"/>
          </a:xfrm>
          <a:custGeom>
            <a:avLst/>
            <a:gdLst/>
            <a:ahLst/>
            <a:cxnLst/>
            <a:rect r="r" b="b" t="t" l="l"/>
            <a:pathLst>
              <a:path h="6670215" w="11941084">
                <a:moveTo>
                  <a:pt x="0" y="0"/>
                </a:moveTo>
                <a:lnTo>
                  <a:pt x="11941084" y="0"/>
                </a:lnTo>
                <a:lnTo>
                  <a:pt x="11941084" y="6670214"/>
                </a:lnTo>
                <a:lnTo>
                  <a:pt x="0" y="6670214"/>
                </a:lnTo>
                <a:lnTo>
                  <a:pt x="0" y="0"/>
                </a:lnTo>
                <a:close/>
              </a:path>
            </a:pathLst>
          </a:custGeom>
          <a:blipFill>
            <a:blip r:embed="rId10"/>
            <a:stretch>
              <a:fillRect l="0" t="0" r="0" b="0"/>
            </a:stretch>
          </a:blipFill>
        </p:spPr>
      </p:sp>
      <p:sp>
        <p:nvSpPr>
          <p:cNvPr name="TextBox 8" id="8"/>
          <p:cNvSpPr txBox="true"/>
          <p:nvPr/>
        </p:nvSpPr>
        <p:spPr>
          <a:xfrm rot="0">
            <a:off x="12212189" y="2447600"/>
            <a:ext cx="6171090" cy="6446281"/>
          </a:xfrm>
          <a:prstGeom prst="rect">
            <a:avLst/>
          </a:prstGeom>
        </p:spPr>
        <p:txBody>
          <a:bodyPr anchor="t" rtlCol="false" tIns="0" lIns="0" bIns="0" rIns="0">
            <a:spAutoFit/>
          </a:bodyPr>
          <a:lstStyle/>
          <a:p>
            <a:pPr algn="l" marL="854388" indent="-427194" lvl="1">
              <a:lnSpc>
                <a:spcPts val="5540"/>
              </a:lnSpc>
              <a:buFont typeface="Arial"/>
              <a:buChar char="•"/>
            </a:pPr>
            <a:r>
              <a:rPr lang="en-US" b="true" sz="3957">
                <a:solidFill>
                  <a:srgbClr val="FFFFFF"/>
                </a:solidFill>
                <a:latin typeface="Arian Bold"/>
                <a:ea typeface="Arian Bold"/>
                <a:cs typeface="Arian Bold"/>
                <a:sym typeface="Arian Bold"/>
              </a:rPr>
              <a:t>Binary Search Tree</a:t>
            </a:r>
          </a:p>
          <a:p>
            <a:pPr algn="l">
              <a:lnSpc>
                <a:spcPts val="4738"/>
              </a:lnSpc>
            </a:pPr>
            <a:r>
              <a:rPr lang="en-US" sz="3384">
                <a:solidFill>
                  <a:srgbClr val="FFFFFF"/>
                </a:solidFill>
                <a:latin typeface="Arian"/>
                <a:ea typeface="Arian"/>
                <a:cs typeface="Arian"/>
                <a:sym typeface="Arian"/>
              </a:rPr>
              <a:t>      Average Search: O(log n)</a:t>
            </a:r>
          </a:p>
          <a:p>
            <a:pPr algn="l">
              <a:lnSpc>
                <a:spcPts val="4738"/>
              </a:lnSpc>
            </a:pPr>
            <a:r>
              <a:rPr lang="en-US" sz="3384">
                <a:solidFill>
                  <a:srgbClr val="FFFFFF"/>
                </a:solidFill>
                <a:latin typeface="Arian"/>
                <a:ea typeface="Arian"/>
                <a:cs typeface="Arian"/>
                <a:sym typeface="Arian"/>
              </a:rPr>
              <a:t>      Worst Case: O(n)</a:t>
            </a:r>
          </a:p>
          <a:p>
            <a:pPr algn="l" marL="925372" indent="-462686" lvl="1">
              <a:lnSpc>
                <a:spcPts val="6000"/>
              </a:lnSpc>
              <a:buFont typeface="Arial"/>
              <a:buChar char="•"/>
            </a:pPr>
            <a:r>
              <a:rPr lang="en-US" b="true" sz="4286">
                <a:solidFill>
                  <a:srgbClr val="FFFFFF"/>
                </a:solidFill>
                <a:latin typeface="Arian Bold"/>
                <a:ea typeface="Arian Bold"/>
                <a:cs typeface="Arian Bold"/>
                <a:sym typeface="Arian Bold"/>
              </a:rPr>
              <a:t>AVL Tree</a:t>
            </a:r>
          </a:p>
          <a:p>
            <a:pPr algn="l">
              <a:lnSpc>
                <a:spcPts val="4738"/>
              </a:lnSpc>
            </a:pPr>
            <a:r>
              <a:rPr lang="en-US" sz="3384">
                <a:solidFill>
                  <a:srgbClr val="FFFFFF"/>
                </a:solidFill>
                <a:latin typeface="Arian"/>
                <a:ea typeface="Arian"/>
                <a:cs typeface="Arian"/>
                <a:sym typeface="Arian"/>
              </a:rPr>
              <a:t>     </a:t>
            </a:r>
            <a:r>
              <a:rPr lang="en-US" sz="3384">
                <a:solidFill>
                  <a:srgbClr val="FFFFFF"/>
                </a:solidFill>
                <a:latin typeface="Arian"/>
                <a:ea typeface="Arian"/>
                <a:cs typeface="Arian"/>
                <a:sym typeface="Arian"/>
              </a:rPr>
              <a:t> Search: O(log n)</a:t>
            </a:r>
          </a:p>
          <a:p>
            <a:pPr algn="l">
              <a:lnSpc>
                <a:spcPts val="4738"/>
              </a:lnSpc>
            </a:pPr>
            <a:r>
              <a:rPr lang="en-US" sz="3384">
                <a:solidFill>
                  <a:srgbClr val="FFFFFF"/>
                </a:solidFill>
                <a:latin typeface="Arian"/>
                <a:ea typeface="Arian"/>
                <a:cs typeface="Arian"/>
                <a:sym typeface="Arian"/>
              </a:rPr>
              <a:t>      Insert/Delete: O(log n)</a:t>
            </a:r>
          </a:p>
          <a:p>
            <a:pPr algn="l" marL="897566" indent="-448783" lvl="1">
              <a:lnSpc>
                <a:spcPts val="5820"/>
              </a:lnSpc>
              <a:buFont typeface="Arial"/>
              <a:buChar char="•"/>
            </a:pPr>
            <a:r>
              <a:rPr lang="en-US" b="true" sz="4157">
                <a:solidFill>
                  <a:srgbClr val="FFFFFF"/>
                </a:solidFill>
                <a:latin typeface="Arian Bold"/>
                <a:ea typeface="Arian Bold"/>
                <a:cs typeface="Arian Bold"/>
                <a:sym typeface="Arian Bold"/>
              </a:rPr>
              <a:t>Hash Table</a:t>
            </a:r>
          </a:p>
          <a:p>
            <a:pPr algn="l">
              <a:lnSpc>
                <a:spcPts val="4738"/>
              </a:lnSpc>
            </a:pPr>
            <a:r>
              <a:rPr lang="en-US" sz="3384">
                <a:solidFill>
                  <a:srgbClr val="FFFFFF"/>
                </a:solidFill>
                <a:latin typeface="Arian"/>
                <a:ea typeface="Arian"/>
                <a:cs typeface="Arian"/>
                <a:sym typeface="Arian"/>
              </a:rPr>
              <a:t>     </a:t>
            </a:r>
            <a:r>
              <a:rPr lang="en-US" sz="3384">
                <a:solidFill>
                  <a:srgbClr val="FFFFFF"/>
                </a:solidFill>
                <a:latin typeface="Arian"/>
                <a:ea typeface="Arian"/>
                <a:cs typeface="Arian"/>
                <a:sym typeface="Arian"/>
              </a:rPr>
              <a:t> Average Search: O(1)</a:t>
            </a:r>
          </a:p>
          <a:p>
            <a:pPr algn="l">
              <a:lnSpc>
                <a:spcPts val="5279"/>
              </a:lnSpc>
            </a:pPr>
            <a:r>
              <a:rPr lang="en-US" sz="3770">
                <a:solidFill>
                  <a:srgbClr val="FFFFFF"/>
                </a:solidFill>
                <a:latin typeface="Arian"/>
                <a:ea typeface="Arian"/>
                <a:cs typeface="Arian"/>
                <a:sym typeface="Arian"/>
              </a:rPr>
              <a:t>     Worst Case: O(n)</a:t>
            </a:r>
          </a:p>
          <a:p>
            <a:pPr algn="l">
              <a:lnSpc>
                <a:spcPts val="4146"/>
              </a:lnSpc>
            </a:pPr>
            <a:r>
              <a:rPr lang="en-US" sz="2961">
                <a:solidFill>
                  <a:srgbClr val="FFFFFF"/>
                </a:solidFill>
                <a:latin typeface="Arian"/>
                <a:ea typeface="Arian"/>
                <a:cs typeface="Arian"/>
                <a:sym typeface="Arian"/>
              </a:rPr>
              <a:t>      </a:t>
            </a:r>
          </a:p>
        </p:txBody>
      </p:sp>
      <p:sp>
        <p:nvSpPr>
          <p:cNvPr name="TextBox 9" id="9"/>
          <p:cNvSpPr txBox="true"/>
          <p:nvPr/>
        </p:nvSpPr>
        <p:spPr>
          <a:xfrm rot="0">
            <a:off x="218709" y="1323960"/>
            <a:ext cx="11383143" cy="887132"/>
          </a:xfrm>
          <a:prstGeom prst="rect">
            <a:avLst/>
          </a:prstGeom>
        </p:spPr>
        <p:txBody>
          <a:bodyPr anchor="t" rtlCol="false" tIns="0" lIns="0" bIns="0" rIns="0">
            <a:spAutoFit/>
          </a:bodyPr>
          <a:lstStyle/>
          <a:p>
            <a:pPr algn="l">
              <a:lnSpc>
                <a:spcPts val="7277"/>
              </a:lnSpc>
            </a:pPr>
            <a:r>
              <a:rPr lang="en-US" sz="5198" spc="218" b="true">
                <a:solidFill>
                  <a:srgbClr val="FFFFFF"/>
                </a:solidFill>
                <a:latin typeface="TT Lakes Neue Extended Bold"/>
                <a:ea typeface="TT Lakes Neue Extended Bold"/>
                <a:cs typeface="TT Lakes Neue Extended Bold"/>
                <a:sym typeface="TT Lakes Neue Extended Bold"/>
              </a:rPr>
              <a:t>BST vs AVL vs Hash Table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71102" cy="9649508"/>
          </a:xfrm>
          <a:custGeom>
            <a:avLst/>
            <a:gdLst/>
            <a:ahLst/>
            <a:cxnLst/>
            <a:rect r="r" b="b" t="t" l="l"/>
            <a:pathLst>
              <a:path h="9649508" w="18271102">
                <a:moveTo>
                  <a:pt x="0" y="0"/>
                </a:moveTo>
                <a:lnTo>
                  <a:pt x="18271102" y="0"/>
                </a:lnTo>
                <a:lnTo>
                  <a:pt x="18271102" y="9649508"/>
                </a:lnTo>
                <a:lnTo>
                  <a:pt x="0" y="9649508"/>
                </a:lnTo>
                <a:lnTo>
                  <a:pt x="0" y="0"/>
                </a:lnTo>
                <a:close/>
              </a:path>
            </a:pathLst>
          </a:custGeom>
          <a:blipFill>
            <a:blip r:embed="rId2"/>
            <a:stretch>
              <a:fillRect l="-32" t="0" r="-32" b="-6558"/>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36977" y="0"/>
            <a:ext cx="18251023" cy="10287000"/>
          </a:xfrm>
          <a:custGeom>
            <a:avLst/>
            <a:gdLst/>
            <a:ahLst/>
            <a:cxnLst/>
            <a:rect r="r" b="b" t="t" l="l"/>
            <a:pathLst>
              <a:path h="10287000" w="18251023">
                <a:moveTo>
                  <a:pt x="0" y="0"/>
                </a:moveTo>
                <a:lnTo>
                  <a:pt x="18251023" y="0"/>
                </a:lnTo>
                <a:lnTo>
                  <a:pt x="18251023" y="10287000"/>
                </a:lnTo>
                <a:lnTo>
                  <a:pt x="0" y="10287000"/>
                </a:lnTo>
                <a:lnTo>
                  <a:pt x="0" y="0"/>
                </a:lnTo>
                <a:close/>
              </a:path>
            </a:pathLst>
          </a:custGeom>
          <a:blipFill>
            <a:blip r:embed="rId2"/>
            <a:stretch>
              <a:fillRect l="-424" t="0" r="-424"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21197" y="0"/>
            <a:ext cx="18311346" cy="10287000"/>
          </a:xfrm>
          <a:custGeom>
            <a:avLst/>
            <a:gdLst/>
            <a:ahLst/>
            <a:cxnLst/>
            <a:rect r="r" b="b" t="t" l="l"/>
            <a:pathLst>
              <a:path h="10287000" w="18311346">
                <a:moveTo>
                  <a:pt x="0" y="0"/>
                </a:moveTo>
                <a:lnTo>
                  <a:pt x="18311346" y="0"/>
                </a:lnTo>
                <a:lnTo>
                  <a:pt x="18311346" y="10287000"/>
                </a:lnTo>
                <a:lnTo>
                  <a:pt x="0" y="10287000"/>
                </a:lnTo>
                <a:lnTo>
                  <a:pt x="0" y="0"/>
                </a:lnTo>
                <a:close/>
              </a:path>
            </a:pathLst>
          </a:custGeom>
          <a:blipFill>
            <a:blip r:embed="rId2"/>
            <a:stretch>
              <a:fillRect l="-584" t="0" r="-584"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10726" y="0"/>
            <a:ext cx="18277274" cy="10287000"/>
          </a:xfrm>
          <a:custGeom>
            <a:avLst/>
            <a:gdLst/>
            <a:ahLst/>
            <a:cxnLst/>
            <a:rect r="r" b="b" t="t" l="l"/>
            <a:pathLst>
              <a:path h="10287000" w="18277274">
                <a:moveTo>
                  <a:pt x="0" y="0"/>
                </a:moveTo>
                <a:lnTo>
                  <a:pt x="18277274" y="0"/>
                </a:lnTo>
                <a:lnTo>
                  <a:pt x="18277274" y="10287000"/>
                </a:lnTo>
                <a:lnTo>
                  <a:pt x="0" y="10287000"/>
                </a:lnTo>
                <a:lnTo>
                  <a:pt x="0" y="0"/>
                </a:lnTo>
                <a:close/>
              </a:path>
            </a:pathLst>
          </a:custGeom>
          <a:blipFill>
            <a:blip r:embed="rId2"/>
            <a:stretch>
              <a:fillRect l="-630" t="0" r="-63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1508793" y="2107412"/>
            <a:ext cx="15679660" cy="4786997"/>
          </a:xfrm>
          <a:custGeom>
            <a:avLst/>
            <a:gdLst/>
            <a:ahLst/>
            <a:cxnLst/>
            <a:rect r="r" b="b" t="t" l="l"/>
            <a:pathLst>
              <a:path h="4786997" w="15679660">
                <a:moveTo>
                  <a:pt x="0" y="0"/>
                </a:moveTo>
                <a:lnTo>
                  <a:pt x="15679660" y="0"/>
                </a:lnTo>
                <a:lnTo>
                  <a:pt x="15679660" y="4786997"/>
                </a:lnTo>
                <a:lnTo>
                  <a:pt x="0" y="4786997"/>
                </a:lnTo>
                <a:lnTo>
                  <a:pt x="0" y="0"/>
                </a:lnTo>
                <a:close/>
              </a:path>
            </a:pathLst>
          </a:custGeom>
          <a:blipFill>
            <a:blip r:embed="rId2"/>
            <a:stretch>
              <a:fillRect l="-4529" t="-1901" r="0" b="-1901"/>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01204C"/>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18211811" cy="10287000"/>
          </a:xfrm>
          <a:custGeom>
            <a:avLst/>
            <a:gdLst/>
            <a:ahLst/>
            <a:cxnLst/>
            <a:rect r="r" b="b" t="t" l="l"/>
            <a:pathLst>
              <a:path h="10287000" w="18211811">
                <a:moveTo>
                  <a:pt x="0" y="0"/>
                </a:moveTo>
                <a:lnTo>
                  <a:pt x="18211811" y="0"/>
                </a:lnTo>
                <a:lnTo>
                  <a:pt x="18211811" y="10287000"/>
                </a:lnTo>
                <a:lnTo>
                  <a:pt x="0" y="10287000"/>
                </a:lnTo>
                <a:lnTo>
                  <a:pt x="0" y="0"/>
                </a:lnTo>
                <a:close/>
              </a:path>
            </a:pathLst>
          </a:custGeom>
          <a:blipFill>
            <a:blip r:embed="rId2"/>
            <a:stretch>
              <a:fillRect l="-959" t="-32" r="0" b="-603"/>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DAHV8EPJmGM</dc:identifier>
  <dcterms:modified xsi:type="dcterms:W3CDTF">2011-08-01T06:04:30Z</dcterms:modified>
  <cp:revision>1</cp:revision>
  <dc:title>Navy Blue and Purple Gradient Futuristic Computer Technology Presentation</dc:title>
</cp:coreProperties>
</file>